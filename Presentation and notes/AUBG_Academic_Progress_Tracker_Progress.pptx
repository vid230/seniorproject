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82"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830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This is a short progress presentation of my senior project, the AUBG Academic Progress Tracker. The project started as a simple GPA calculator, but it has developed into a full Blazor application with persistent storage, course and semester management, academic statistics, and now a much stronger algorithmic component.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not just to display grades. The application combines three ideas: tracking the academic record, calculating the student's current status, and planning future outcomes. It is designed as a local personal tool, so the main focus is software structure, reliable calculations, persistence, and algorithmic decision support.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a layered architecture. Razor components handle presentation. Services contain application rules and calculations. Entity Framework Core provides the data-access layer, and SQLite stores the persistent data locally. This separation is important because the more advanced GPA algorithms can be developed and tested independently from the user interface.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currently has two persistent entities. A semester can contain many courses, and each course belongs to one semester through SemesterId. SQLite replaced the original temporary list, so data now survives application restarts. Entity Framework Core migrations manage the schema, while the local database file itself is excluded from Git.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the application has the complete core workflow. Courses support full CRUD operations, semesters are stored as real entities, the dashboard shows cumulative GPA and credit statistics, and semester GPA is calculated from related courses. I also added two planning features: the manual What-if Calculator and the automatic Target GPA Solver.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Calculator was the first planning feature. It combines the real academic record with temporary future courses and calculates a projected GPA, but the hypothetical courses are never saved. This was a useful design step, although algorithmically it still used the same weighted-average calculation as the dashboard. That led to the next feature.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GPA Solver reverses the What-if problem. The user gives a target GPA and a list of remaining courses, but does not enter future grades. The program has to search for grades that can achieve the target. Because many combinations may be valid, this becomes a combinatorial search problem rather than a single weighted-average formula.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major algorithm is recursive backtracking. Every level represents a remaining course and every branch represents a possible grade. In the worst case this grows exponentially, O of g to the n. To reduce the search, I added pruning. Impossible branches are cut when even all A grades cannot reach the target, and easy branches finish early when all D grades are already enough.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Pruning helped, but large reachable searches were still slow because different grade combinations could lead to the same remaining problem. The second algorithmic approach is dynamic programming through memoization. A state is defined by the current course index and the points still needed. Once a state is solved, its result is cached and reused. This produced the major performance improvement in the solver.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application is now working and the algorithmic direction is much stronger. Two substantial approaches are implemented: backtracking with pruning, and dynamic programming through memoization. The next major stage will add the third distinct algorithm through a prerequisite graph and topological sort, followed by unit testing, error handling, and final UI and thesis polish.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766E"/>
          </a:solidFill>
          <a:ln w="12700">
            <a:solidFill>
              <a:srgbClr val="0F766E"/>
            </a:solidFill>
            <a:prstDash val="solid"/>
          </a:ln>
        </p:spPr>
        <p:txBody>
          <a:bodyPr/>
          <a:lstStyle/>
          <a:p>
            <a:endParaRPr lang="bg-BG"/>
          </a:p>
        </p:txBody>
      </p:sp>
      <p:sp>
        <p:nvSpPr>
          <p:cNvPr id="3" name="Text 1"/>
          <p:cNvSpPr/>
          <p:nvPr/>
        </p:nvSpPr>
        <p:spPr>
          <a:xfrm>
            <a:off x="502920" y="6510528"/>
            <a:ext cx="5029200" cy="182880"/>
          </a:xfrm>
          <a:prstGeom prst="rect">
            <a:avLst/>
          </a:prstGeom>
          <a:noFill/>
          <a:ln/>
        </p:spPr>
        <p:txBody>
          <a:bodyPr wrap="square" lIns="0" tIns="0" rIns="0" bIns="0" rtlCol="0" anchor="ctr"/>
          <a:lstStyle/>
          <a:p>
            <a:pPr marL="0" indent="0">
              <a:buNone/>
            </a:pPr>
            <a:r>
              <a:rPr lang="en-US" sz="900" dirty="0">
                <a:solidFill>
                  <a:srgbClr val="64748B"/>
                </a:solidFill>
                <a:latin typeface="Aptos" pitchFamily="34" charset="0"/>
                <a:ea typeface="Aptos" pitchFamily="34" charset="-122"/>
                <a:cs typeface="Aptos" pitchFamily="34" charset="-120"/>
              </a:rPr>
              <a:t>COS4091 Senior Project • Progress Presentation</a:t>
            </a:r>
            <a:endParaRPr lang="en-US" sz="900" dirty="0"/>
          </a:p>
        </p:txBody>
      </p:sp>
      <p:sp>
        <p:nvSpPr>
          <p:cNvPr id="4" name="Text 2"/>
          <p:cNvSpPr/>
          <p:nvPr/>
        </p:nvSpPr>
        <p:spPr>
          <a:xfrm>
            <a:off x="8412480" y="6510528"/>
            <a:ext cx="3246120" cy="182880"/>
          </a:xfrm>
          <a:prstGeom prst="rect">
            <a:avLst/>
          </a:prstGeom>
          <a:noFill/>
          <a:ln/>
        </p:spPr>
        <p:txBody>
          <a:bodyPr wrap="square" lIns="0" tIns="0" rIns="0" bIns="0" rtlCol="0" anchor="ctr"/>
          <a:lstStyle/>
          <a:p>
            <a:pPr marL="0" indent="0" algn="r">
              <a:buNone/>
            </a:pPr>
            <a:r>
              <a:rPr lang="en-US" sz="900" dirty="0">
                <a:solidFill>
                  <a:srgbClr val="94A3B8"/>
                </a:solidFill>
                <a:latin typeface="Aptos" pitchFamily="34" charset="0"/>
                <a:ea typeface="Aptos" pitchFamily="34" charset="-122"/>
                <a:cs typeface="Aptos" pitchFamily="34" charset="-120"/>
              </a:rPr>
              <a:t>AUBG Academic Progress Tracker</a:t>
            </a:r>
            <a:endParaRPr lang="en-US" sz="900" dirty="0"/>
          </a:p>
        </p:txBody>
      </p:sp>
      <p:sp>
        <p:nvSpPr>
          <p:cNvPr id="25"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txBody>
          <a:bodyPr/>
          <a:lstStyle/>
          <a:p>
            <a:endParaRPr lang="bg-BG"/>
          </a:p>
        </p:txBody>
      </p:sp>
      <p:sp>
        <p:nvSpPr>
          <p:cNvPr id="3" name="Shape 1"/>
          <p:cNvSpPr/>
          <p:nvPr/>
        </p:nvSpPr>
        <p:spPr>
          <a:xfrm rot="900000">
            <a:off x="8366760" y="0"/>
            <a:ext cx="3611880" cy="3611880"/>
          </a:xfrm>
          <a:prstGeom prst="arc">
            <a:avLst/>
          </a:prstGeom>
          <a:solidFill>
            <a:srgbClr val="123A56">
              <a:alpha val="90000"/>
            </a:srgbClr>
          </a:solidFill>
          <a:ln w="12700">
            <a:solidFill>
              <a:srgbClr val="123A56">
                <a:alpha val="0"/>
              </a:srgbClr>
            </a:solidFill>
            <a:prstDash val="solid"/>
          </a:ln>
        </p:spPr>
        <p:txBody>
          <a:bodyPr/>
          <a:lstStyle/>
          <a:p>
            <a:endParaRPr lang="bg-BG"/>
          </a:p>
        </p:txBody>
      </p:sp>
      <p:sp>
        <p:nvSpPr>
          <p:cNvPr id="4" name="Shape 2"/>
          <p:cNvSpPr/>
          <p:nvPr/>
        </p:nvSpPr>
        <p:spPr>
          <a:xfrm rot="12600000">
            <a:off x="8321040" y="1143000"/>
            <a:ext cx="3154680" cy="3154680"/>
          </a:xfrm>
          <a:prstGeom prst="arc">
            <a:avLst/>
          </a:prstGeom>
          <a:solidFill>
            <a:srgbClr val="0F766E">
              <a:alpha val="65000"/>
            </a:srgbClr>
          </a:solidFill>
          <a:ln w="12700">
            <a:solidFill>
              <a:srgbClr val="0F766E">
                <a:alpha val="0"/>
              </a:srgbClr>
            </a:solidFill>
            <a:prstDash val="solid"/>
          </a:ln>
        </p:spPr>
        <p:txBody>
          <a:bodyPr/>
          <a:lstStyle/>
          <a:p>
            <a:endParaRPr lang="bg-BG"/>
          </a:p>
        </p:txBody>
      </p:sp>
      <p:sp>
        <p:nvSpPr>
          <p:cNvPr id="5" name="Text 3"/>
          <p:cNvSpPr/>
          <p:nvPr/>
        </p:nvSpPr>
        <p:spPr>
          <a:xfrm>
            <a:off x="731520" y="1325880"/>
            <a:ext cx="6583680" cy="1325880"/>
          </a:xfrm>
          <a:prstGeom prst="rect">
            <a:avLst/>
          </a:prstGeom>
          <a:noFill/>
          <a:ln/>
        </p:spPr>
        <p:txBody>
          <a:bodyPr wrap="square" lIns="0" tIns="0" rIns="0" bIns="0" rtlCol="0" anchor="ctr"/>
          <a:lstStyle/>
          <a:p>
            <a:pPr marL="0" indent="0">
              <a:buNone/>
            </a:pPr>
            <a:r>
              <a:rPr lang="en-US" sz="3000" b="1" dirty="0">
                <a:solidFill>
                  <a:srgbClr val="FFFFFF"/>
                </a:solidFill>
                <a:latin typeface="Aptos Display" pitchFamily="34" charset="0"/>
                <a:ea typeface="Aptos Display" pitchFamily="34" charset="-122"/>
                <a:cs typeface="Aptos Display" pitchFamily="34" charset="-120"/>
              </a:rPr>
              <a:t>AUBG Academic</a:t>
            </a:r>
            <a:endParaRPr lang="en-US" sz="3000" dirty="0"/>
          </a:p>
          <a:p>
            <a:pPr marL="0" indent="0">
              <a:buNone/>
            </a:pPr>
            <a:r>
              <a:rPr lang="en-US" sz="3000" b="1" dirty="0">
                <a:solidFill>
                  <a:srgbClr val="FFFFFF"/>
                </a:solidFill>
                <a:latin typeface="Aptos Display" pitchFamily="34" charset="0"/>
                <a:ea typeface="Aptos Display" pitchFamily="34" charset="-122"/>
                <a:cs typeface="Aptos Display" pitchFamily="34" charset="-120"/>
              </a:rPr>
              <a:t>Progress Tracker</a:t>
            </a:r>
            <a:endParaRPr lang="en-US" sz="3000" dirty="0"/>
          </a:p>
        </p:txBody>
      </p:sp>
      <p:sp>
        <p:nvSpPr>
          <p:cNvPr id="6" name="Text 4"/>
          <p:cNvSpPr/>
          <p:nvPr/>
        </p:nvSpPr>
        <p:spPr>
          <a:xfrm>
            <a:off x="749808" y="2907792"/>
            <a:ext cx="5120640" cy="329184"/>
          </a:xfrm>
          <a:prstGeom prst="rect">
            <a:avLst/>
          </a:prstGeom>
          <a:noFill/>
          <a:ln/>
        </p:spPr>
        <p:txBody>
          <a:bodyPr wrap="square" lIns="0" tIns="0" rIns="0" bIns="0" rtlCol="0" anchor="ctr"/>
          <a:lstStyle/>
          <a:p>
            <a:pPr marL="0" indent="0">
              <a:buNone/>
            </a:pPr>
            <a:r>
              <a:rPr lang="en-US" sz="1600" dirty="0">
                <a:solidFill>
                  <a:srgbClr val="B9D7E8"/>
                </a:solidFill>
              </a:rPr>
              <a:t>Senior Project • Progress Presentation</a:t>
            </a:r>
            <a:endParaRPr lang="en-US" sz="1600" dirty="0"/>
          </a:p>
        </p:txBody>
      </p:sp>
      <p:sp>
        <p:nvSpPr>
          <p:cNvPr id="7" name="Shape 5"/>
          <p:cNvSpPr/>
          <p:nvPr/>
        </p:nvSpPr>
        <p:spPr>
          <a:xfrm>
            <a:off x="749808" y="3429000"/>
            <a:ext cx="1828800" cy="0"/>
          </a:xfrm>
          <a:prstGeom prst="line">
            <a:avLst/>
          </a:prstGeom>
          <a:noFill/>
          <a:ln w="12700">
            <a:solidFill>
              <a:srgbClr val="14B8A6"/>
            </a:solidFill>
            <a:prstDash val="solid"/>
          </a:ln>
        </p:spPr>
        <p:txBody>
          <a:bodyPr/>
          <a:lstStyle/>
          <a:p>
            <a:endParaRPr lang="bg-BG"/>
          </a:p>
        </p:txBody>
      </p:sp>
      <p:sp>
        <p:nvSpPr>
          <p:cNvPr id="8" name="Text 6"/>
          <p:cNvSpPr/>
          <p:nvPr/>
        </p:nvSpPr>
        <p:spPr>
          <a:xfrm>
            <a:off x="749808" y="3712464"/>
            <a:ext cx="5394960" cy="320040"/>
          </a:xfrm>
          <a:prstGeom prst="rect">
            <a:avLst/>
          </a:prstGeom>
          <a:noFill/>
          <a:ln/>
        </p:spPr>
        <p:txBody>
          <a:bodyPr wrap="square" lIns="0" tIns="0" rIns="0" bIns="0" rtlCol="0" anchor="ctr"/>
          <a:lstStyle/>
          <a:p>
            <a:pPr marL="0" indent="0">
              <a:buNone/>
            </a:pPr>
            <a:r>
              <a:rPr lang="en-US" sz="1350" dirty="0">
                <a:solidFill>
                  <a:srgbClr val="D6E5EF"/>
                </a:solidFill>
              </a:rPr>
              <a:t>C# • Blazor • SQLite • Entity Framework Core</a:t>
            </a:r>
            <a:endParaRPr lang="en-US" sz="1350" dirty="0"/>
          </a:p>
        </p:txBody>
      </p:sp>
      <p:sp>
        <p:nvSpPr>
          <p:cNvPr id="9" name="Text 7"/>
          <p:cNvSpPr/>
          <p:nvPr/>
        </p:nvSpPr>
        <p:spPr>
          <a:xfrm>
            <a:off x="749808" y="4160520"/>
            <a:ext cx="5212080" cy="320040"/>
          </a:xfrm>
          <a:prstGeom prst="rect">
            <a:avLst/>
          </a:prstGeom>
          <a:noFill/>
          <a:ln/>
        </p:spPr>
        <p:txBody>
          <a:bodyPr wrap="square" lIns="0" tIns="0" rIns="0" bIns="0" rtlCol="0" anchor="ctr"/>
          <a:lstStyle/>
          <a:p>
            <a:pPr marL="0" indent="0">
              <a:buNone/>
            </a:pPr>
            <a:r>
              <a:rPr lang="en-US" sz="1350" dirty="0">
                <a:solidFill>
                  <a:srgbClr val="D6E5EF"/>
                </a:solidFill>
              </a:rPr>
              <a:t>Current focus: advanced GPA search algorithms</a:t>
            </a:r>
            <a:endParaRPr lang="en-US" sz="1350" dirty="0"/>
          </a:p>
        </p:txBody>
      </p:sp>
      <p:sp>
        <p:nvSpPr>
          <p:cNvPr id="10" name="Text 8"/>
          <p:cNvSpPr/>
          <p:nvPr/>
        </p:nvSpPr>
        <p:spPr>
          <a:xfrm>
            <a:off x="749808" y="5138928"/>
            <a:ext cx="2103120" cy="384048"/>
          </a:xfrm>
          <a:prstGeom prst="rect">
            <a:avLst/>
          </a:prstGeom>
          <a:solidFill>
            <a:srgbClr val="0F766E"/>
          </a:solidFill>
          <a:ln>
            <a:solidFill>
              <a:srgbClr val="0F766E"/>
            </a:solidFill>
          </a:ln>
        </p:spPr>
        <p:txBody>
          <a:bodyPr wrap="square" lIns="635" tIns="635" rIns="635" bIns="635" rtlCol="0" anchor="ctr"/>
          <a:lstStyle/>
          <a:p>
            <a:pPr marL="0" indent="0" algn="ctr">
              <a:buNone/>
            </a:pPr>
            <a:r>
              <a:rPr lang="en-US" sz="1150" b="1" dirty="0">
                <a:solidFill>
                  <a:srgbClr val="FFFFFF"/>
                </a:solidFill>
              </a:rPr>
              <a:t>5-minute update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1. Problem and Project Goal</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From a console GPA calculator to a complete academic planning application</a:t>
            </a:r>
            <a:endParaRPr lang="en-US" sz="1250" dirty="0"/>
          </a:p>
        </p:txBody>
      </p:sp>
      <p:sp>
        <p:nvSpPr>
          <p:cNvPr id="4" name="Shape 2"/>
          <p:cNvSpPr/>
          <p:nvPr/>
        </p:nvSpPr>
        <p:spPr>
          <a:xfrm>
            <a:off x="658368" y="1417320"/>
            <a:ext cx="3429000" cy="1353312"/>
          </a:xfrm>
          <a:prstGeom prst="roundRect">
            <a:avLst>
              <a:gd name="adj" fmla="val 473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5" name="Shape 3"/>
          <p:cNvSpPr/>
          <p:nvPr/>
        </p:nvSpPr>
        <p:spPr>
          <a:xfrm>
            <a:off x="658368" y="1417320"/>
            <a:ext cx="73152" cy="1353312"/>
          </a:xfrm>
          <a:prstGeom prst="rect">
            <a:avLst/>
          </a:prstGeom>
          <a:solidFill>
            <a:srgbClr val="2563EB"/>
          </a:solidFill>
          <a:ln w="12700">
            <a:solidFill>
              <a:srgbClr val="2563EB"/>
            </a:solidFill>
            <a:prstDash val="solid"/>
          </a:ln>
        </p:spPr>
        <p:txBody>
          <a:bodyPr/>
          <a:lstStyle/>
          <a:p>
            <a:endParaRPr lang="bg-BG"/>
          </a:p>
        </p:txBody>
      </p:sp>
      <p:sp>
        <p:nvSpPr>
          <p:cNvPr id="6" name="Text 4"/>
          <p:cNvSpPr/>
          <p:nvPr/>
        </p:nvSpPr>
        <p:spPr>
          <a:xfrm>
            <a:off x="868680" y="1581912"/>
            <a:ext cx="3108960" cy="320040"/>
          </a:xfrm>
          <a:prstGeom prst="rect">
            <a:avLst/>
          </a:prstGeom>
          <a:noFill/>
          <a:ln/>
        </p:spPr>
        <p:txBody>
          <a:bodyPr wrap="square" lIns="0" tIns="0" rIns="0" bIns="0" rtlCol="0" anchor="ctr"/>
          <a:lstStyle/>
          <a:p>
            <a:pPr marL="0" indent="0">
              <a:buNone/>
            </a:pPr>
            <a:r>
              <a:rPr lang="en-US" sz="1500" b="1" dirty="0">
                <a:solidFill>
                  <a:srgbClr val="102A43"/>
                </a:solidFill>
              </a:rPr>
              <a:t>Track academic progress</a:t>
            </a:r>
            <a:endParaRPr lang="en-US" sz="1500" dirty="0"/>
          </a:p>
        </p:txBody>
      </p:sp>
      <p:sp>
        <p:nvSpPr>
          <p:cNvPr id="7" name="Text 5"/>
          <p:cNvSpPr/>
          <p:nvPr/>
        </p:nvSpPr>
        <p:spPr>
          <a:xfrm>
            <a:off x="868680" y="1984248"/>
            <a:ext cx="3099816" cy="621792"/>
          </a:xfrm>
          <a:prstGeom prst="rect">
            <a:avLst/>
          </a:prstGeom>
          <a:noFill/>
          <a:ln/>
        </p:spPr>
        <p:txBody>
          <a:bodyPr wrap="square" lIns="254" tIns="254" rIns="254" bIns="254" rtlCol="0" anchor="t"/>
          <a:lstStyle/>
          <a:p>
            <a:pPr marL="0" indent="0">
              <a:buNone/>
            </a:pPr>
            <a:r>
              <a:rPr lang="en-US" sz="1220" dirty="0">
                <a:solidFill>
                  <a:srgbClr val="475569"/>
                </a:solidFill>
              </a:rPr>
              <a:t>Courses, semesters, grades, attempted credits and earned credits in one place.</a:t>
            </a:r>
            <a:endParaRPr lang="en-US" sz="1220" dirty="0"/>
          </a:p>
        </p:txBody>
      </p:sp>
      <p:sp>
        <p:nvSpPr>
          <p:cNvPr id="8" name="Shape 6"/>
          <p:cNvSpPr/>
          <p:nvPr/>
        </p:nvSpPr>
        <p:spPr>
          <a:xfrm>
            <a:off x="658368" y="2999232"/>
            <a:ext cx="3429000" cy="1353312"/>
          </a:xfrm>
          <a:prstGeom prst="roundRect">
            <a:avLst>
              <a:gd name="adj" fmla="val 473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9" name="Shape 7"/>
          <p:cNvSpPr/>
          <p:nvPr/>
        </p:nvSpPr>
        <p:spPr>
          <a:xfrm>
            <a:off x="658368" y="2999232"/>
            <a:ext cx="73152" cy="1353312"/>
          </a:xfrm>
          <a:prstGeom prst="rect">
            <a:avLst/>
          </a:prstGeom>
          <a:solidFill>
            <a:srgbClr val="16A34A"/>
          </a:solidFill>
          <a:ln w="12700">
            <a:solidFill>
              <a:srgbClr val="16A34A"/>
            </a:solidFill>
            <a:prstDash val="solid"/>
          </a:ln>
        </p:spPr>
        <p:txBody>
          <a:bodyPr/>
          <a:lstStyle/>
          <a:p>
            <a:endParaRPr lang="bg-BG"/>
          </a:p>
        </p:txBody>
      </p:sp>
      <p:sp>
        <p:nvSpPr>
          <p:cNvPr id="10" name="Text 8"/>
          <p:cNvSpPr/>
          <p:nvPr/>
        </p:nvSpPr>
        <p:spPr>
          <a:xfrm>
            <a:off x="868680" y="3163824"/>
            <a:ext cx="3108960" cy="320040"/>
          </a:xfrm>
          <a:prstGeom prst="rect">
            <a:avLst/>
          </a:prstGeom>
          <a:noFill/>
          <a:ln/>
        </p:spPr>
        <p:txBody>
          <a:bodyPr wrap="square" lIns="0" tIns="0" rIns="0" bIns="0" rtlCol="0" anchor="ctr"/>
          <a:lstStyle/>
          <a:p>
            <a:pPr marL="0" indent="0">
              <a:buNone/>
            </a:pPr>
            <a:r>
              <a:rPr lang="en-US" sz="1500" b="1" dirty="0">
                <a:solidFill>
                  <a:srgbClr val="102A43"/>
                </a:solidFill>
              </a:rPr>
              <a:t>Understand the current position</a:t>
            </a:r>
            <a:endParaRPr lang="en-US" sz="1500" dirty="0"/>
          </a:p>
        </p:txBody>
      </p:sp>
      <p:sp>
        <p:nvSpPr>
          <p:cNvPr id="11" name="Text 9"/>
          <p:cNvSpPr/>
          <p:nvPr/>
        </p:nvSpPr>
        <p:spPr>
          <a:xfrm>
            <a:off x="868680" y="3566160"/>
            <a:ext cx="3099816" cy="621792"/>
          </a:xfrm>
          <a:prstGeom prst="rect">
            <a:avLst/>
          </a:prstGeom>
          <a:noFill/>
          <a:ln/>
        </p:spPr>
        <p:txBody>
          <a:bodyPr wrap="square" lIns="254" tIns="254" rIns="254" bIns="254" rtlCol="0" anchor="t"/>
          <a:lstStyle/>
          <a:p>
            <a:pPr marL="0" indent="0">
              <a:buNone/>
            </a:pPr>
            <a:r>
              <a:rPr lang="en-US" sz="1220" dirty="0">
                <a:solidFill>
                  <a:srgbClr val="475569"/>
                </a:solidFill>
              </a:rPr>
              <a:t>Cumulative GPA, semester GPA and completed-course statistics are calculated automatically.</a:t>
            </a:r>
            <a:endParaRPr lang="en-US" sz="1220" dirty="0"/>
          </a:p>
        </p:txBody>
      </p:sp>
      <p:sp>
        <p:nvSpPr>
          <p:cNvPr id="12" name="Shape 10"/>
          <p:cNvSpPr/>
          <p:nvPr/>
        </p:nvSpPr>
        <p:spPr>
          <a:xfrm>
            <a:off x="658368" y="4590288"/>
            <a:ext cx="3429000" cy="1353312"/>
          </a:xfrm>
          <a:prstGeom prst="roundRect">
            <a:avLst>
              <a:gd name="adj" fmla="val 473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13" name="Shape 11"/>
          <p:cNvSpPr/>
          <p:nvPr/>
        </p:nvSpPr>
        <p:spPr>
          <a:xfrm>
            <a:off x="658368" y="4590288"/>
            <a:ext cx="73152" cy="1353312"/>
          </a:xfrm>
          <a:prstGeom prst="rect">
            <a:avLst/>
          </a:prstGeom>
          <a:solidFill>
            <a:srgbClr val="D97706"/>
          </a:solidFill>
          <a:ln w="12700">
            <a:solidFill>
              <a:srgbClr val="D97706"/>
            </a:solidFill>
            <a:prstDash val="solid"/>
          </a:ln>
        </p:spPr>
        <p:txBody>
          <a:bodyPr/>
          <a:lstStyle/>
          <a:p>
            <a:endParaRPr lang="bg-BG"/>
          </a:p>
        </p:txBody>
      </p:sp>
      <p:sp>
        <p:nvSpPr>
          <p:cNvPr id="14" name="Text 12"/>
          <p:cNvSpPr/>
          <p:nvPr/>
        </p:nvSpPr>
        <p:spPr>
          <a:xfrm>
            <a:off x="868680" y="4754880"/>
            <a:ext cx="3108960" cy="320040"/>
          </a:xfrm>
          <a:prstGeom prst="rect">
            <a:avLst/>
          </a:prstGeom>
          <a:noFill/>
          <a:ln/>
        </p:spPr>
        <p:txBody>
          <a:bodyPr wrap="square" lIns="0" tIns="0" rIns="0" bIns="0" rtlCol="0" anchor="ctr"/>
          <a:lstStyle/>
          <a:p>
            <a:pPr marL="0" indent="0">
              <a:buNone/>
            </a:pPr>
            <a:r>
              <a:rPr lang="en-US" sz="1500" b="1" dirty="0">
                <a:solidFill>
                  <a:srgbClr val="102A43"/>
                </a:solidFill>
              </a:rPr>
              <a:t>Plan future outcomes</a:t>
            </a:r>
            <a:endParaRPr lang="en-US" sz="1500" dirty="0"/>
          </a:p>
        </p:txBody>
      </p:sp>
      <p:sp>
        <p:nvSpPr>
          <p:cNvPr id="15" name="Text 13"/>
          <p:cNvSpPr/>
          <p:nvPr/>
        </p:nvSpPr>
        <p:spPr>
          <a:xfrm>
            <a:off x="868680" y="5157216"/>
            <a:ext cx="3099816" cy="621792"/>
          </a:xfrm>
          <a:prstGeom prst="rect">
            <a:avLst/>
          </a:prstGeom>
          <a:noFill/>
          <a:ln/>
        </p:spPr>
        <p:txBody>
          <a:bodyPr wrap="square" lIns="254" tIns="254" rIns="254" bIns="254" rtlCol="0" anchor="t"/>
          <a:lstStyle/>
          <a:p>
            <a:pPr marL="0" indent="0">
              <a:buNone/>
            </a:pPr>
            <a:r>
              <a:rPr lang="en-US" sz="1220" dirty="0">
                <a:solidFill>
                  <a:srgbClr val="475569"/>
                </a:solidFill>
              </a:rPr>
              <a:t>What-if simulation and the Target GPA Solver help evaluate future academic scenarios.</a:t>
            </a:r>
            <a:endParaRPr lang="en-US" sz="1220" dirty="0"/>
          </a:p>
        </p:txBody>
      </p:sp>
      <p:sp>
        <p:nvSpPr>
          <p:cNvPr id="16" name="Shape 14"/>
          <p:cNvSpPr/>
          <p:nvPr/>
        </p:nvSpPr>
        <p:spPr>
          <a:xfrm>
            <a:off x="4800600" y="1508760"/>
            <a:ext cx="6309360" cy="4526280"/>
          </a:xfrm>
          <a:prstGeom prst="roundRect">
            <a:avLst/>
          </a:prstGeom>
          <a:solidFill>
            <a:srgbClr val="EEF5F8"/>
          </a:solidFill>
          <a:ln w="12700">
            <a:solidFill>
              <a:srgbClr val="D5E5EC"/>
            </a:solidFill>
            <a:prstDash val="solid"/>
          </a:ln>
        </p:spPr>
        <p:txBody>
          <a:bodyPr/>
          <a:lstStyle/>
          <a:p>
            <a:endParaRPr lang="bg-BG"/>
          </a:p>
        </p:txBody>
      </p:sp>
      <p:sp>
        <p:nvSpPr>
          <p:cNvPr id="17" name="Text 15"/>
          <p:cNvSpPr/>
          <p:nvPr/>
        </p:nvSpPr>
        <p:spPr>
          <a:xfrm>
            <a:off x="5212080" y="1901952"/>
            <a:ext cx="2011680" cy="320040"/>
          </a:xfrm>
          <a:prstGeom prst="rect">
            <a:avLst/>
          </a:prstGeom>
          <a:noFill/>
          <a:ln/>
        </p:spPr>
        <p:txBody>
          <a:bodyPr wrap="square" lIns="0" tIns="0" rIns="0" bIns="0" rtlCol="0" anchor="ctr"/>
          <a:lstStyle/>
          <a:p>
            <a:pPr marL="0" indent="0">
              <a:buNone/>
            </a:pPr>
            <a:r>
              <a:rPr lang="en-US" sz="1400" b="1" dirty="0">
                <a:solidFill>
                  <a:srgbClr val="0F766E"/>
                </a:solidFill>
              </a:rPr>
              <a:t>Core objective</a:t>
            </a:r>
            <a:endParaRPr lang="en-US" sz="1400" dirty="0"/>
          </a:p>
        </p:txBody>
      </p:sp>
      <p:sp>
        <p:nvSpPr>
          <p:cNvPr id="18" name="Text 16"/>
          <p:cNvSpPr/>
          <p:nvPr/>
        </p:nvSpPr>
        <p:spPr>
          <a:xfrm>
            <a:off x="5212080" y="2331720"/>
            <a:ext cx="4754880" cy="548640"/>
          </a:xfrm>
          <a:prstGeom prst="rect">
            <a:avLst/>
          </a:prstGeom>
          <a:noFill/>
          <a:ln/>
        </p:spPr>
        <p:txBody>
          <a:bodyPr wrap="square" lIns="0" tIns="0" rIns="0" bIns="0" rtlCol="0" anchor="ctr"/>
          <a:lstStyle/>
          <a:p>
            <a:pPr marL="0" indent="0">
              <a:buNone/>
            </a:pPr>
            <a:r>
              <a:rPr lang="en-US" sz="2400" b="1" dirty="0">
                <a:solidFill>
                  <a:srgbClr val="102A43"/>
                </a:solidFill>
              </a:rPr>
              <a:t>Turn raw course data into useful decisions.</a:t>
            </a:r>
            <a:endParaRPr lang="en-US" sz="2400" dirty="0"/>
          </a:p>
        </p:txBody>
      </p:sp>
      <p:sp>
        <p:nvSpPr>
          <p:cNvPr id="19" name="Text 17"/>
          <p:cNvSpPr/>
          <p:nvPr/>
        </p:nvSpPr>
        <p:spPr>
          <a:xfrm>
            <a:off x="5212080" y="3154680"/>
            <a:ext cx="5074920" cy="1280160"/>
          </a:xfrm>
          <a:prstGeom prst="rect">
            <a:avLst/>
          </a:prstGeom>
          <a:noFill/>
          <a:ln/>
        </p:spPr>
        <p:txBody>
          <a:bodyPr wrap="square" lIns="254" tIns="254" rIns="254" bIns="254" rtlCol="0" anchor="ctr"/>
          <a:lstStyle/>
          <a:p>
            <a:pPr marL="0" indent="0">
              <a:buNone/>
            </a:pPr>
            <a:r>
              <a:rPr lang="en-US" sz="1500" dirty="0">
                <a:solidFill>
                  <a:srgbClr val="475569"/>
                </a:solidFill>
              </a:rPr>
              <a:t>The application is a local single-user tracker. It does not replace official university systems; it helps the student organize information, test scenarios and plan ahead.</a:t>
            </a:r>
            <a:endParaRPr lang="en-US" sz="1500" dirty="0"/>
          </a:p>
        </p:txBody>
      </p:sp>
      <p:sp>
        <p:nvSpPr>
          <p:cNvPr id="20" name="Shape 18"/>
          <p:cNvSpPr/>
          <p:nvPr/>
        </p:nvSpPr>
        <p:spPr>
          <a:xfrm>
            <a:off x="5212080" y="4892040"/>
            <a:ext cx="1143000" cy="347472"/>
          </a:xfrm>
          <a:prstGeom prst="roundRect">
            <a:avLst/>
          </a:prstGeom>
          <a:solidFill>
            <a:srgbClr val="2563EB"/>
          </a:solidFill>
          <a:ln w="12700">
            <a:solidFill>
              <a:srgbClr val="2563EB"/>
            </a:solidFill>
            <a:prstDash val="solid"/>
          </a:ln>
        </p:spPr>
        <p:txBody>
          <a:bodyPr/>
          <a:lstStyle/>
          <a:p>
            <a:endParaRPr lang="bg-BG"/>
          </a:p>
        </p:txBody>
      </p:sp>
      <p:sp>
        <p:nvSpPr>
          <p:cNvPr id="21" name="Text 19"/>
          <p:cNvSpPr/>
          <p:nvPr/>
        </p:nvSpPr>
        <p:spPr>
          <a:xfrm>
            <a:off x="5212080" y="4942332"/>
            <a:ext cx="1143000" cy="219456"/>
          </a:xfrm>
          <a:prstGeom prst="rect">
            <a:avLst/>
          </a:prstGeom>
          <a:noFill/>
          <a:ln/>
        </p:spPr>
        <p:txBody>
          <a:bodyPr wrap="square" lIns="0" tIns="0" rIns="0" bIns="0" rtlCol="0" anchor="ctr"/>
          <a:lstStyle/>
          <a:p>
            <a:pPr marL="0" indent="0" algn="ctr">
              <a:buNone/>
            </a:pPr>
            <a:r>
              <a:rPr lang="en-US" sz="1050" b="1" dirty="0">
                <a:solidFill>
                  <a:srgbClr val="FFFFFF"/>
                </a:solidFill>
              </a:rPr>
              <a:t>TRACK</a:t>
            </a:r>
            <a:endParaRPr lang="en-US" sz="1050" dirty="0"/>
          </a:p>
        </p:txBody>
      </p:sp>
      <p:sp>
        <p:nvSpPr>
          <p:cNvPr id="22" name="Shape 20"/>
          <p:cNvSpPr/>
          <p:nvPr/>
        </p:nvSpPr>
        <p:spPr>
          <a:xfrm>
            <a:off x="6473952" y="4892040"/>
            <a:ext cx="1325880" cy="347472"/>
          </a:xfrm>
          <a:prstGeom prst="roundRect">
            <a:avLst/>
          </a:prstGeom>
          <a:solidFill>
            <a:srgbClr val="16A34A"/>
          </a:solidFill>
          <a:ln w="12700">
            <a:solidFill>
              <a:srgbClr val="16A34A"/>
            </a:solidFill>
            <a:prstDash val="solid"/>
          </a:ln>
        </p:spPr>
        <p:txBody>
          <a:bodyPr/>
          <a:lstStyle/>
          <a:p>
            <a:endParaRPr lang="bg-BG"/>
          </a:p>
        </p:txBody>
      </p:sp>
      <p:sp>
        <p:nvSpPr>
          <p:cNvPr id="23" name="Text 21"/>
          <p:cNvSpPr/>
          <p:nvPr/>
        </p:nvSpPr>
        <p:spPr>
          <a:xfrm>
            <a:off x="6473952" y="4942332"/>
            <a:ext cx="1325880" cy="219456"/>
          </a:xfrm>
          <a:prstGeom prst="rect">
            <a:avLst/>
          </a:prstGeom>
          <a:noFill/>
          <a:ln/>
        </p:spPr>
        <p:txBody>
          <a:bodyPr wrap="square" lIns="0" tIns="0" rIns="0" bIns="0" rtlCol="0" anchor="ctr"/>
          <a:lstStyle/>
          <a:p>
            <a:pPr marL="0" indent="0" algn="ctr">
              <a:buNone/>
            </a:pPr>
            <a:r>
              <a:rPr lang="en-US" sz="1050" b="1" dirty="0">
                <a:solidFill>
                  <a:srgbClr val="FFFFFF"/>
                </a:solidFill>
              </a:rPr>
              <a:t>CALCULATE</a:t>
            </a:r>
            <a:endParaRPr lang="en-US" sz="1050" dirty="0"/>
          </a:p>
        </p:txBody>
      </p:sp>
      <p:sp>
        <p:nvSpPr>
          <p:cNvPr id="24" name="Shape 22"/>
          <p:cNvSpPr/>
          <p:nvPr/>
        </p:nvSpPr>
        <p:spPr>
          <a:xfrm>
            <a:off x="7936992" y="4892040"/>
            <a:ext cx="1143000" cy="347472"/>
          </a:xfrm>
          <a:prstGeom prst="roundRect">
            <a:avLst/>
          </a:prstGeom>
          <a:solidFill>
            <a:srgbClr val="D97706"/>
          </a:solidFill>
          <a:ln w="12700">
            <a:solidFill>
              <a:srgbClr val="D97706"/>
            </a:solidFill>
            <a:prstDash val="solid"/>
          </a:ln>
        </p:spPr>
        <p:txBody>
          <a:bodyPr/>
          <a:lstStyle/>
          <a:p>
            <a:endParaRPr lang="bg-BG"/>
          </a:p>
        </p:txBody>
      </p:sp>
      <p:sp>
        <p:nvSpPr>
          <p:cNvPr id="25" name="Text 23"/>
          <p:cNvSpPr/>
          <p:nvPr/>
        </p:nvSpPr>
        <p:spPr>
          <a:xfrm>
            <a:off x="7936992" y="4942332"/>
            <a:ext cx="1143000" cy="219456"/>
          </a:xfrm>
          <a:prstGeom prst="rect">
            <a:avLst/>
          </a:prstGeom>
          <a:noFill/>
          <a:ln/>
        </p:spPr>
        <p:txBody>
          <a:bodyPr wrap="square" lIns="0" tIns="0" rIns="0" bIns="0" rtlCol="0" anchor="ctr"/>
          <a:lstStyle/>
          <a:p>
            <a:pPr marL="0" indent="0" algn="ctr">
              <a:buNone/>
            </a:pPr>
            <a:r>
              <a:rPr lang="en-US" sz="1050" b="1" dirty="0">
                <a:solidFill>
                  <a:srgbClr val="FFFFFF"/>
                </a:solidFill>
              </a:rPr>
              <a:t>SIMULATE</a:t>
            </a:r>
            <a:endParaRPr lang="en-US" sz="1050" dirty="0"/>
          </a:p>
        </p:txBody>
      </p:sp>
      <p:sp>
        <p:nvSpPr>
          <p:cNvPr id="26" name="Shape 24"/>
          <p:cNvSpPr/>
          <p:nvPr/>
        </p:nvSpPr>
        <p:spPr>
          <a:xfrm>
            <a:off x="9217152" y="4892040"/>
            <a:ext cx="1325880" cy="347472"/>
          </a:xfrm>
          <a:prstGeom prst="roundRect">
            <a:avLst/>
          </a:prstGeom>
          <a:solidFill>
            <a:srgbClr val="0F766E"/>
          </a:solidFill>
          <a:ln w="12700">
            <a:solidFill>
              <a:srgbClr val="0F766E"/>
            </a:solidFill>
            <a:prstDash val="solid"/>
          </a:ln>
        </p:spPr>
        <p:txBody>
          <a:bodyPr/>
          <a:lstStyle/>
          <a:p>
            <a:endParaRPr lang="bg-BG"/>
          </a:p>
        </p:txBody>
      </p:sp>
      <p:sp>
        <p:nvSpPr>
          <p:cNvPr id="27" name="Text 25"/>
          <p:cNvSpPr/>
          <p:nvPr/>
        </p:nvSpPr>
        <p:spPr>
          <a:xfrm>
            <a:off x="9217152" y="4942332"/>
            <a:ext cx="1325880" cy="219456"/>
          </a:xfrm>
          <a:prstGeom prst="rect">
            <a:avLst/>
          </a:prstGeom>
          <a:noFill/>
          <a:ln/>
        </p:spPr>
        <p:txBody>
          <a:bodyPr wrap="square" lIns="0" tIns="0" rIns="0" bIns="0" rtlCol="0" anchor="ctr"/>
          <a:lstStyle/>
          <a:p>
            <a:pPr marL="0" indent="0" algn="ctr">
              <a:buNone/>
            </a:pPr>
            <a:r>
              <a:rPr lang="en-US" sz="1050" b="1" dirty="0">
                <a:solidFill>
                  <a:srgbClr val="FFFFFF"/>
                </a:solidFill>
              </a:rPr>
              <a:t>OPTIMIZE</a:t>
            </a:r>
            <a:endParaRPr lang="en-US" sz="1050" dirty="0"/>
          </a:p>
        </p:txBody>
      </p:sp>
      <p:sp>
        <p:nvSpPr>
          <p:cNvPr id="28"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2. System Architecture</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 layered design separates UI, business logic, data access and storage</a:t>
            </a:r>
            <a:endParaRPr lang="en-US" sz="1250" dirty="0"/>
          </a:p>
        </p:txBody>
      </p:sp>
      <p:sp>
        <p:nvSpPr>
          <p:cNvPr id="4" name="Shape 2"/>
          <p:cNvSpPr/>
          <p:nvPr/>
        </p:nvSpPr>
        <p:spPr>
          <a:xfrm>
            <a:off x="960120" y="1463040"/>
            <a:ext cx="10241280" cy="777240"/>
          </a:xfrm>
          <a:prstGeom prst="roundRect">
            <a:avLst/>
          </a:prstGeom>
          <a:solidFill>
            <a:srgbClr val="EAF2FF"/>
          </a:solidFill>
          <a:ln w="12700">
            <a:solidFill>
              <a:srgbClr val="2563EB"/>
            </a:solidFill>
            <a:prstDash val="solid"/>
          </a:ln>
        </p:spPr>
        <p:txBody>
          <a:bodyPr/>
          <a:lstStyle/>
          <a:p>
            <a:endParaRPr lang="bg-BG"/>
          </a:p>
        </p:txBody>
      </p:sp>
      <p:sp>
        <p:nvSpPr>
          <p:cNvPr id="5" name="Shape 3"/>
          <p:cNvSpPr/>
          <p:nvPr/>
        </p:nvSpPr>
        <p:spPr>
          <a:xfrm>
            <a:off x="960120" y="1463040"/>
            <a:ext cx="100584" cy="777240"/>
          </a:xfrm>
          <a:prstGeom prst="rect">
            <a:avLst/>
          </a:prstGeom>
          <a:solidFill>
            <a:srgbClr val="2563EB"/>
          </a:solidFill>
          <a:ln w="12700">
            <a:solidFill>
              <a:srgbClr val="2563EB"/>
            </a:solidFill>
            <a:prstDash val="solid"/>
          </a:ln>
        </p:spPr>
        <p:txBody>
          <a:bodyPr/>
          <a:lstStyle/>
          <a:p>
            <a:endParaRPr lang="bg-BG"/>
          </a:p>
        </p:txBody>
      </p:sp>
      <p:sp>
        <p:nvSpPr>
          <p:cNvPr id="6" name="Text 4"/>
          <p:cNvSpPr/>
          <p:nvPr/>
        </p:nvSpPr>
        <p:spPr>
          <a:xfrm>
            <a:off x="1243584" y="1627632"/>
            <a:ext cx="2834640" cy="274320"/>
          </a:xfrm>
          <a:prstGeom prst="rect">
            <a:avLst/>
          </a:prstGeom>
          <a:noFill/>
          <a:ln/>
        </p:spPr>
        <p:txBody>
          <a:bodyPr wrap="square" lIns="0" tIns="0" rIns="0" bIns="0" rtlCol="0" anchor="ctr"/>
          <a:lstStyle/>
          <a:p>
            <a:pPr marL="0" indent="0">
              <a:buNone/>
            </a:pPr>
            <a:r>
              <a:rPr lang="en-US" sz="1600" b="1" dirty="0">
                <a:solidFill>
                  <a:srgbClr val="102A43"/>
                </a:solidFill>
              </a:rPr>
              <a:t>Presentation Layer</a:t>
            </a:r>
            <a:endParaRPr lang="en-US" sz="1600" dirty="0"/>
          </a:p>
        </p:txBody>
      </p:sp>
      <p:sp>
        <p:nvSpPr>
          <p:cNvPr id="7" name="Text 5"/>
          <p:cNvSpPr/>
          <p:nvPr/>
        </p:nvSpPr>
        <p:spPr>
          <a:xfrm>
            <a:off x="4114800" y="1627632"/>
            <a:ext cx="6492240" cy="521208"/>
          </a:xfrm>
          <a:prstGeom prst="rect">
            <a:avLst/>
          </a:prstGeom>
          <a:noFill/>
          <a:ln/>
        </p:spPr>
        <p:txBody>
          <a:bodyPr wrap="square" lIns="254" tIns="254" rIns="254" bIns="254" rtlCol="0" anchor="ctr"/>
          <a:lstStyle/>
          <a:p>
            <a:pPr marL="0" indent="0">
              <a:buNone/>
            </a:pPr>
            <a:r>
              <a:rPr lang="en-US" sz="1310" dirty="0">
                <a:solidFill>
                  <a:srgbClr val="475569"/>
                </a:solidFill>
              </a:rPr>
              <a:t>Blazor Razor components • Dashboard • Courses • Semesters • What-if • Target GPA</a:t>
            </a:r>
            <a:endParaRPr lang="en-US" sz="1310" dirty="0"/>
          </a:p>
        </p:txBody>
      </p:sp>
      <p:sp>
        <p:nvSpPr>
          <p:cNvPr id="8" name="Shape 6"/>
          <p:cNvSpPr/>
          <p:nvPr/>
        </p:nvSpPr>
        <p:spPr>
          <a:xfrm>
            <a:off x="6080760" y="2313432"/>
            <a:ext cx="0" cy="155448"/>
          </a:xfrm>
          <a:prstGeom prst="line">
            <a:avLst/>
          </a:prstGeom>
          <a:noFill/>
          <a:ln w="12700">
            <a:solidFill>
              <a:srgbClr val="0F766E"/>
            </a:solidFill>
            <a:prstDash val="solid"/>
            <a:headEnd type="none"/>
            <a:tailEnd type="triangle"/>
          </a:ln>
        </p:spPr>
        <p:txBody>
          <a:bodyPr/>
          <a:lstStyle/>
          <a:p>
            <a:endParaRPr lang="bg-BG"/>
          </a:p>
        </p:txBody>
      </p:sp>
      <p:sp>
        <p:nvSpPr>
          <p:cNvPr id="9" name="Shape 7"/>
          <p:cNvSpPr/>
          <p:nvPr/>
        </p:nvSpPr>
        <p:spPr>
          <a:xfrm>
            <a:off x="960120" y="2542032"/>
            <a:ext cx="10241280" cy="960120"/>
          </a:xfrm>
          <a:prstGeom prst="roundRect">
            <a:avLst/>
          </a:prstGeom>
          <a:solidFill>
            <a:srgbClr val="ECFDF5"/>
          </a:solidFill>
          <a:ln w="12700">
            <a:solidFill>
              <a:srgbClr val="16A34A"/>
            </a:solidFill>
            <a:prstDash val="solid"/>
          </a:ln>
        </p:spPr>
        <p:txBody>
          <a:bodyPr/>
          <a:lstStyle/>
          <a:p>
            <a:endParaRPr lang="bg-BG"/>
          </a:p>
        </p:txBody>
      </p:sp>
      <p:sp>
        <p:nvSpPr>
          <p:cNvPr id="10" name="Shape 8"/>
          <p:cNvSpPr/>
          <p:nvPr/>
        </p:nvSpPr>
        <p:spPr>
          <a:xfrm>
            <a:off x="960120" y="2542032"/>
            <a:ext cx="100584" cy="960120"/>
          </a:xfrm>
          <a:prstGeom prst="rect">
            <a:avLst/>
          </a:prstGeom>
          <a:solidFill>
            <a:srgbClr val="16A34A"/>
          </a:solidFill>
          <a:ln w="12700">
            <a:solidFill>
              <a:srgbClr val="16A34A"/>
            </a:solidFill>
            <a:prstDash val="solid"/>
          </a:ln>
        </p:spPr>
        <p:txBody>
          <a:bodyPr/>
          <a:lstStyle/>
          <a:p>
            <a:endParaRPr lang="bg-BG"/>
          </a:p>
        </p:txBody>
      </p:sp>
      <p:sp>
        <p:nvSpPr>
          <p:cNvPr id="11" name="Text 9"/>
          <p:cNvSpPr/>
          <p:nvPr/>
        </p:nvSpPr>
        <p:spPr>
          <a:xfrm>
            <a:off x="1243584" y="2706624"/>
            <a:ext cx="2834640" cy="274320"/>
          </a:xfrm>
          <a:prstGeom prst="rect">
            <a:avLst/>
          </a:prstGeom>
          <a:noFill/>
          <a:ln/>
        </p:spPr>
        <p:txBody>
          <a:bodyPr wrap="square" lIns="0" tIns="0" rIns="0" bIns="0" rtlCol="0" anchor="ctr"/>
          <a:lstStyle/>
          <a:p>
            <a:pPr marL="0" indent="0">
              <a:buNone/>
            </a:pPr>
            <a:r>
              <a:rPr lang="en-US" sz="1600" b="1" dirty="0">
                <a:solidFill>
                  <a:srgbClr val="102A43"/>
                </a:solidFill>
              </a:rPr>
              <a:t>Service / Business Logic Layer</a:t>
            </a:r>
            <a:endParaRPr lang="en-US" sz="1600" dirty="0"/>
          </a:p>
        </p:txBody>
      </p:sp>
      <p:sp>
        <p:nvSpPr>
          <p:cNvPr id="12" name="Text 10"/>
          <p:cNvSpPr/>
          <p:nvPr/>
        </p:nvSpPr>
        <p:spPr>
          <a:xfrm>
            <a:off x="4114800" y="2706624"/>
            <a:ext cx="6492240" cy="704088"/>
          </a:xfrm>
          <a:prstGeom prst="rect">
            <a:avLst/>
          </a:prstGeom>
          <a:noFill/>
          <a:ln/>
        </p:spPr>
        <p:txBody>
          <a:bodyPr wrap="square" lIns="254" tIns="254" rIns="254" bIns="254" rtlCol="0" anchor="ctr"/>
          <a:lstStyle/>
          <a:p>
            <a:pPr marL="0" indent="0">
              <a:buNone/>
            </a:pPr>
            <a:r>
              <a:rPr lang="en-US" sz="1310" dirty="0">
                <a:solidFill>
                  <a:srgbClr val="475569"/>
                </a:solidFill>
              </a:rPr>
              <a:t>CourseService • SemesterService • GpaCalculator • CreditCalculator • WhatIf logic • TargetGpaSolver</a:t>
            </a:r>
            <a:endParaRPr lang="en-US" sz="1310" dirty="0"/>
          </a:p>
        </p:txBody>
      </p:sp>
      <p:sp>
        <p:nvSpPr>
          <p:cNvPr id="13" name="Shape 11"/>
          <p:cNvSpPr/>
          <p:nvPr/>
        </p:nvSpPr>
        <p:spPr>
          <a:xfrm>
            <a:off x="6080760" y="3575304"/>
            <a:ext cx="0" cy="192024"/>
          </a:xfrm>
          <a:prstGeom prst="line">
            <a:avLst/>
          </a:prstGeom>
          <a:noFill/>
          <a:ln w="12700">
            <a:solidFill>
              <a:srgbClr val="0F766E"/>
            </a:solidFill>
            <a:prstDash val="solid"/>
            <a:headEnd type="none"/>
            <a:tailEnd type="triangle"/>
          </a:ln>
        </p:spPr>
        <p:txBody>
          <a:bodyPr/>
          <a:lstStyle/>
          <a:p>
            <a:endParaRPr lang="bg-BG"/>
          </a:p>
        </p:txBody>
      </p:sp>
      <p:sp>
        <p:nvSpPr>
          <p:cNvPr id="14" name="Shape 12"/>
          <p:cNvSpPr/>
          <p:nvPr/>
        </p:nvSpPr>
        <p:spPr>
          <a:xfrm>
            <a:off x="960120" y="3840480"/>
            <a:ext cx="10241280" cy="822960"/>
          </a:xfrm>
          <a:prstGeom prst="roundRect">
            <a:avLst/>
          </a:prstGeom>
          <a:solidFill>
            <a:srgbClr val="FFF7ED"/>
          </a:solidFill>
          <a:ln w="12700">
            <a:solidFill>
              <a:srgbClr val="D97706"/>
            </a:solidFill>
            <a:prstDash val="solid"/>
          </a:ln>
        </p:spPr>
        <p:txBody>
          <a:bodyPr/>
          <a:lstStyle/>
          <a:p>
            <a:endParaRPr lang="bg-BG"/>
          </a:p>
        </p:txBody>
      </p:sp>
      <p:sp>
        <p:nvSpPr>
          <p:cNvPr id="15" name="Shape 13"/>
          <p:cNvSpPr/>
          <p:nvPr/>
        </p:nvSpPr>
        <p:spPr>
          <a:xfrm>
            <a:off x="960120" y="3840480"/>
            <a:ext cx="100584" cy="822960"/>
          </a:xfrm>
          <a:prstGeom prst="rect">
            <a:avLst/>
          </a:prstGeom>
          <a:solidFill>
            <a:srgbClr val="D97706"/>
          </a:solidFill>
          <a:ln w="12700">
            <a:solidFill>
              <a:srgbClr val="D97706"/>
            </a:solidFill>
            <a:prstDash val="solid"/>
          </a:ln>
        </p:spPr>
        <p:txBody>
          <a:bodyPr/>
          <a:lstStyle/>
          <a:p>
            <a:endParaRPr lang="bg-BG"/>
          </a:p>
        </p:txBody>
      </p:sp>
      <p:sp>
        <p:nvSpPr>
          <p:cNvPr id="16" name="Text 14"/>
          <p:cNvSpPr/>
          <p:nvPr/>
        </p:nvSpPr>
        <p:spPr>
          <a:xfrm>
            <a:off x="1243584" y="4005072"/>
            <a:ext cx="2834640" cy="274320"/>
          </a:xfrm>
          <a:prstGeom prst="rect">
            <a:avLst/>
          </a:prstGeom>
          <a:noFill/>
          <a:ln/>
        </p:spPr>
        <p:txBody>
          <a:bodyPr wrap="square" lIns="0" tIns="0" rIns="0" bIns="0" rtlCol="0" anchor="ctr"/>
          <a:lstStyle/>
          <a:p>
            <a:pPr marL="0" indent="0">
              <a:buNone/>
            </a:pPr>
            <a:r>
              <a:rPr lang="en-US" sz="1600" b="1" dirty="0">
                <a:solidFill>
                  <a:srgbClr val="102A43"/>
                </a:solidFill>
              </a:rPr>
              <a:t>Data Access Layer</a:t>
            </a:r>
            <a:endParaRPr lang="en-US" sz="1600" dirty="0"/>
          </a:p>
        </p:txBody>
      </p:sp>
      <p:sp>
        <p:nvSpPr>
          <p:cNvPr id="17" name="Text 15"/>
          <p:cNvSpPr/>
          <p:nvPr/>
        </p:nvSpPr>
        <p:spPr>
          <a:xfrm>
            <a:off x="4114800" y="4005072"/>
            <a:ext cx="6492240" cy="566928"/>
          </a:xfrm>
          <a:prstGeom prst="rect">
            <a:avLst/>
          </a:prstGeom>
          <a:noFill/>
          <a:ln/>
        </p:spPr>
        <p:txBody>
          <a:bodyPr wrap="square" lIns="254" tIns="254" rIns="254" bIns="254" rtlCol="0" anchor="ctr"/>
          <a:lstStyle/>
          <a:p>
            <a:pPr marL="0" indent="0">
              <a:buNone/>
            </a:pPr>
            <a:r>
              <a:rPr lang="en-US" sz="1310" dirty="0">
                <a:solidFill>
                  <a:srgbClr val="475569"/>
                </a:solidFill>
              </a:rPr>
              <a:t>AcademicDbContext • Entity Framework Core</a:t>
            </a:r>
            <a:endParaRPr lang="en-US" sz="1310" dirty="0"/>
          </a:p>
        </p:txBody>
      </p:sp>
      <p:sp>
        <p:nvSpPr>
          <p:cNvPr id="18" name="Shape 16"/>
          <p:cNvSpPr/>
          <p:nvPr/>
        </p:nvSpPr>
        <p:spPr>
          <a:xfrm>
            <a:off x="6080760" y="4736592"/>
            <a:ext cx="0" cy="192024"/>
          </a:xfrm>
          <a:prstGeom prst="line">
            <a:avLst/>
          </a:prstGeom>
          <a:noFill/>
          <a:ln w="12700">
            <a:solidFill>
              <a:srgbClr val="0F766E"/>
            </a:solidFill>
            <a:prstDash val="solid"/>
            <a:headEnd type="none"/>
            <a:tailEnd type="triangle"/>
          </a:ln>
        </p:spPr>
        <p:txBody>
          <a:bodyPr/>
          <a:lstStyle/>
          <a:p>
            <a:endParaRPr lang="bg-BG"/>
          </a:p>
        </p:txBody>
      </p:sp>
      <p:sp>
        <p:nvSpPr>
          <p:cNvPr id="19" name="Shape 17"/>
          <p:cNvSpPr/>
          <p:nvPr/>
        </p:nvSpPr>
        <p:spPr>
          <a:xfrm>
            <a:off x="960120" y="5001768"/>
            <a:ext cx="10241280" cy="777240"/>
          </a:xfrm>
          <a:prstGeom prst="roundRect">
            <a:avLst/>
          </a:prstGeom>
          <a:solidFill>
            <a:srgbClr val="F4F1FF"/>
          </a:solidFill>
          <a:ln w="12700">
            <a:solidFill>
              <a:srgbClr val="7C3AED"/>
            </a:solidFill>
            <a:prstDash val="solid"/>
          </a:ln>
        </p:spPr>
        <p:txBody>
          <a:bodyPr/>
          <a:lstStyle/>
          <a:p>
            <a:endParaRPr lang="bg-BG"/>
          </a:p>
        </p:txBody>
      </p:sp>
      <p:sp>
        <p:nvSpPr>
          <p:cNvPr id="20" name="Shape 18"/>
          <p:cNvSpPr/>
          <p:nvPr/>
        </p:nvSpPr>
        <p:spPr>
          <a:xfrm>
            <a:off x="960120" y="5001768"/>
            <a:ext cx="100584" cy="777240"/>
          </a:xfrm>
          <a:prstGeom prst="rect">
            <a:avLst/>
          </a:prstGeom>
          <a:solidFill>
            <a:srgbClr val="7C3AED"/>
          </a:solidFill>
          <a:ln w="12700">
            <a:solidFill>
              <a:srgbClr val="7C3AED"/>
            </a:solidFill>
            <a:prstDash val="solid"/>
          </a:ln>
        </p:spPr>
        <p:txBody>
          <a:bodyPr/>
          <a:lstStyle/>
          <a:p>
            <a:endParaRPr lang="bg-BG"/>
          </a:p>
        </p:txBody>
      </p:sp>
      <p:sp>
        <p:nvSpPr>
          <p:cNvPr id="21" name="Text 19"/>
          <p:cNvSpPr/>
          <p:nvPr/>
        </p:nvSpPr>
        <p:spPr>
          <a:xfrm>
            <a:off x="1243584" y="5166360"/>
            <a:ext cx="2834640" cy="274320"/>
          </a:xfrm>
          <a:prstGeom prst="rect">
            <a:avLst/>
          </a:prstGeom>
          <a:noFill/>
          <a:ln/>
        </p:spPr>
        <p:txBody>
          <a:bodyPr wrap="square" lIns="0" tIns="0" rIns="0" bIns="0" rtlCol="0" anchor="ctr"/>
          <a:lstStyle/>
          <a:p>
            <a:pPr marL="0" indent="0">
              <a:buNone/>
            </a:pPr>
            <a:r>
              <a:rPr lang="en-US" sz="1600" b="1" dirty="0">
                <a:solidFill>
                  <a:srgbClr val="102A43"/>
                </a:solidFill>
              </a:rPr>
              <a:t>Database Layer</a:t>
            </a:r>
            <a:endParaRPr lang="en-US" sz="1600" dirty="0"/>
          </a:p>
        </p:txBody>
      </p:sp>
      <p:sp>
        <p:nvSpPr>
          <p:cNvPr id="22" name="Text 20"/>
          <p:cNvSpPr/>
          <p:nvPr/>
        </p:nvSpPr>
        <p:spPr>
          <a:xfrm>
            <a:off x="4114800" y="5166360"/>
            <a:ext cx="6492240" cy="521208"/>
          </a:xfrm>
          <a:prstGeom prst="rect">
            <a:avLst/>
          </a:prstGeom>
          <a:noFill/>
          <a:ln/>
        </p:spPr>
        <p:txBody>
          <a:bodyPr wrap="square" lIns="254" tIns="254" rIns="254" bIns="254" rtlCol="0" anchor="ctr"/>
          <a:lstStyle/>
          <a:p>
            <a:pPr marL="0" indent="0">
              <a:buNone/>
            </a:pPr>
            <a:r>
              <a:rPr lang="en-US" sz="1310" dirty="0">
                <a:solidFill>
                  <a:srgbClr val="475569"/>
                </a:solidFill>
              </a:rPr>
              <a:t>SQLite local database</a:t>
            </a:r>
            <a:endParaRPr lang="en-US" sz="1310" dirty="0"/>
          </a:p>
        </p:txBody>
      </p:sp>
      <p:sp>
        <p:nvSpPr>
          <p:cNvPr id="25"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3. Data Model and Persistence</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SQLite replaced the original in-memory list and now preserves the academic record</a:t>
            </a:r>
            <a:endParaRPr lang="en-US" sz="1250" dirty="0"/>
          </a:p>
        </p:txBody>
      </p:sp>
      <p:sp>
        <p:nvSpPr>
          <p:cNvPr id="4" name="Shape 2"/>
          <p:cNvSpPr/>
          <p:nvPr/>
        </p:nvSpPr>
        <p:spPr>
          <a:xfrm>
            <a:off x="822960" y="1554480"/>
            <a:ext cx="2926080" cy="2057400"/>
          </a:xfrm>
          <a:prstGeom prst="roundRect">
            <a:avLst/>
          </a:prstGeom>
          <a:solidFill>
            <a:srgbClr val="FFFFFF"/>
          </a:solidFill>
          <a:ln w="12700">
            <a:solidFill>
              <a:srgbClr val="0F766E"/>
            </a:solidFill>
            <a:prstDash val="solid"/>
          </a:ln>
        </p:spPr>
        <p:txBody>
          <a:bodyPr/>
          <a:lstStyle/>
          <a:p>
            <a:endParaRPr lang="bg-BG"/>
          </a:p>
        </p:txBody>
      </p:sp>
      <p:sp>
        <p:nvSpPr>
          <p:cNvPr id="5" name="Text 3"/>
          <p:cNvSpPr/>
          <p:nvPr/>
        </p:nvSpPr>
        <p:spPr>
          <a:xfrm>
            <a:off x="1051560" y="1792224"/>
            <a:ext cx="2423160" cy="320040"/>
          </a:xfrm>
          <a:prstGeom prst="rect">
            <a:avLst/>
          </a:prstGeom>
          <a:noFill/>
          <a:ln/>
        </p:spPr>
        <p:txBody>
          <a:bodyPr wrap="square" lIns="0" tIns="0" rIns="0" bIns="0" rtlCol="0" anchor="ctr"/>
          <a:lstStyle/>
          <a:p>
            <a:pPr marL="0" indent="0" algn="ctr">
              <a:buNone/>
            </a:pPr>
            <a:r>
              <a:rPr lang="en-US" sz="1800" b="1" dirty="0">
                <a:solidFill>
                  <a:srgbClr val="102A43"/>
                </a:solidFill>
              </a:rPr>
              <a:t>Semester</a:t>
            </a:r>
            <a:endParaRPr lang="en-US" sz="1800" dirty="0"/>
          </a:p>
        </p:txBody>
      </p:sp>
      <p:sp>
        <p:nvSpPr>
          <p:cNvPr id="6" name="Shape 4"/>
          <p:cNvSpPr/>
          <p:nvPr/>
        </p:nvSpPr>
        <p:spPr>
          <a:xfrm>
            <a:off x="1051560" y="2212848"/>
            <a:ext cx="2423160" cy="0"/>
          </a:xfrm>
          <a:prstGeom prst="line">
            <a:avLst/>
          </a:prstGeom>
          <a:noFill/>
          <a:ln w="12700">
            <a:solidFill>
              <a:srgbClr val="D8E1EA"/>
            </a:solidFill>
            <a:prstDash val="solid"/>
          </a:ln>
        </p:spPr>
        <p:txBody>
          <a:bodyPr/>
          <a:lstStyle/>
          <a:p>
            <a:endParaRPr lang="bg-BG"/>
          </a:p>
        </p:txBody>
      </p:sp>
      <p:sp>
        <p:nvSpPr>
          <p:cNvPr id="7" name="Text 5"/>
          <p:cNvSpPr/>
          <p:nvPr/>
        </p:nvSpPr>
        <p:spPr>
          <a:xfrm>
            <a:off x="1188720" y="2359152"/>
            <a:ext cx="2011680" cy="960120"/>
          </a:xfrm>
          <a:prstGeom prst="rect">
            <a:avLst/>
          </a:prstGeom>
          <a:noFill/>
          <a:ln/>
        </p:spPr>
        <p:txBody>
          <a:bodyPr wrap="square" lIns="254" tIns="254" rIns="254" bIns="254" rtlCol="0" anchor="ctr"/>
          <a:lstStyle/>
          <a:p>
            <a:pPr marL="0" indent="0">
              <a:buNone/>
            </a:pPr>
            <a:r>
              <a:rPr lang="en-US" sz="1400" dirty="0">
                <a:solidFill>
                  <a:srgbClr val="475569"/>
                </a:solidFill>
              </a:rPr>
              <a:t>PK  Id</a:t>
            </a:r>
            <a:endParaRPr lang="en-US" sz="1400" dirty="0"/>
          </a:p>
          <a:p>
            <a:pPr marL="0" indent="0">
              <a:buNone/>
            </a:pPr>
            <a:r>
              <a:rPr lang="en-US" sz="1400" dirty="0">
                <a:solidFill>
                  <a:srgbClr val="475569"/>
                </a:solidFill>
              </a:rPr>
              <a:t>     Term</a:t>
            </a:r>
            <a:endParaRPr lang="en-US" sz="1400" dirty="0"/>
          </a:p>
          <a:p>
            <a:pPr marL="0" indent="0">
              <a:buNone/>
            </a:pPr>
            <a:r>
              <a:rPr lang="en-US" sz="1400" dirty="0">
                <a:solidFill>
                  <a:srgbClr val="475569"/>
                </a:solidFill>
              </a:rPr>
              <a:t>     Year</a:t>
            </a:r>
            <a:endParaRPr lang="en-US" sz="1400" dirty="0"/>
          </a:p>
        </p:txBody>
      </p:sp>
      <p:sp>
        <p:nvSpPr>
          <p:cNvPr id="8" name="Shape 6"/>
          <p:cNvSpPr/>
          <p:nvPr/>
        </p:nvSpPr>
        <p:spPr>
          <a:xfrm>
            <a:off x="8183880" y="1417320"/>
            <a:ext cx="3154680" cy="2468880"/>
          </a:xfrm>
          <a:prstGeom prst="roundRect">
            <a:avLst/>
          </a:prstGeom>
          <a:solidFill>
            <a:srgbClr val="FFFFFF"/>
          </a:solidFill>
          <a:ln w="12700">
            <a:solidFill>
              <a:srgbClr val="2563EB"/>
            </a:solidFill>
            <a:prstDash val="solid"/>
          </a:ln>
        </p:spPr>
        <p:txBody>
          <a:bodyPr/>
          <a:lstStyle/>
          <a:p>
            <a:endParaRPr lang="bg-BG"/>
          </a:p>
        </p:txBody>
      </p:sp>
      <p:sp>
        <p:nvSpPr>
          <p:cNvPr id="9" name="Text 7"/>
          <p:cNvSpPr/>
          <p:nvPr/>
        </p:nvSpPr>
        <p:spPr>
          <a:xfrm>
            <a:off x="8430768" y="1664208"/>
            <a:ext cx="2651760" cy="320040"/>
          </a:xfrm>
          <a:prstGeom prst="rect">
            <a:avLst/>
          </a:prstGeom>
          <a:noFill/>
          <a:ln/>
        </p:spPr>
        <p:txBody>
          <a:bodyPr wrap="square" lIns="0" tIns="0" rIns="0" bIns="0" rtlCol="0" anchor="ctr"/>
          <a:lstStyle/>
          <a:p>
            <a:pPr marL="0" indent="0" algn="ctr">
              <a:buNone/>
            </a:pPr>
            <a:r>
              <a:rPr lang="en-US" sz="1800" b="1" dirty="0">
                <a:solidFill>
                  <a:srgbClr val="102A43"/>
                </a:solidFill>
              </a:rPr>
              <a:t>Course</a:t>
            </a:r>
            <a:endParaRPr lang="en-US" sz="1800" dirty="0"/>
          </a:p>
        </p:txBody>
      </p:sp>
      <p:sp>
        <p:nvSpPr>
          <p:cNvPr id="10" name="Shape 8"/>
          <p:cNvSpPr/>
          <p:nvPr/>
        </p:nvSpPr>
        <p:spPr>
          <a:xfrm>
            <a:off x="8430768" y="2075688"/>
            <a:ext cx="2651760" cy="0"/>
          </a:xfrm>
          <a:prstGeom prst="line">
            <a:avLst/>
          </a:prstGeom>
          <a:noFill/>
          <a:ln w="12700">
            <a:solidFill>
              <a:srgbClr val="D8E1EA"/>
            </a:solidFill>
            <a:prstDash val="solid"/>
          </a:ln>
        </p:spPr>
        <p:txBody>
          <a:bodyPr/>
          <a:lstStyle/>
          <a:p>
            <a:endParaRPr lang="bg-BG"/>
          </a:p>
        </p:txBody>
      </p:sp>
      <p:sp>
        <p:nvSpPr>
          <p:cNvPr id="11" name="Text 9"/>
          <p:cNvSpPr/>
          <p:nvPr/>
        </p:nvSpPr>
        <p:spPr>
          <a:xfrm>
            <a:off x="8549640" y="2221992"/>
            <a:ext cx="2423160" cy="1417320"/>
          </a:xfrm>
          <a:prstGeom prst="rect">
            <a:avLst/>
          </a:prstGeom>
          <a:noFill/>
          <a:ln/>
        </p:spPr>
        <p:txBody>
          <a:bodyPr wrap="square" lIns="254" tIns="254" rIns="254" bIns="254" rtlCol="0" anchor="ctr"/>
          <a:lstStyle/>
          <a:p>
            <a:pPr marL="0" indent="0">
              <a:buNone/>
            </a:pPr>
            <a:r>
              <a:rPr lang="en-US" sz="1350" dirty="0">
                <a:solidFill>
                  <a:srgbClr val="475569"/>
                </a:solidFill>
              </a:rPr>
              <a:t>PK  Id</a:t>
            </a:r>
            <a:endParaRPr lang="en-US" sz="1350" dirty="0"/>
          </a:p>
          <a:p>
            <a:pPr marL="0" indent="0">
              <a:buNone/>
            </a:pPr>
            <a:r>
              <a:rPr lang="en-US" sz="1350" dirty="0">
                <a:solidFill>
                  <a:srgbClr val="475569"/>
                </a:solidFill>
              </a:rPr>
              <a:t>     Code</a:t>
            </a:r>
            <a:endParaRPr lang="en-US" sz="1350" dirty="0"/>
          </a:p>
          <a:p>
            <a:pPr marL="0" indent="0">
              <a:buNone/>
            </a:pPr>
            <a:r>
              <a:rPr lang="en-US" sz="1350" dirty="0">
                <a:solidFill>
                  <a:srgbClr val="475569"/>
                </a:solidFill>
              </a:rPr>
              <a:t>     Name</a:t>
            </a:r>
            <a:endParaRPr lang="en-US" sz="1350" dirty="0"/>
          </a:p>
          <a:p>
            <a:pPr marL="0" indent="0">
              <a:buNone/>
            </a:pPr>
            <a:r>
              <a:rPr lang="en-US" sz="1350" dirty="0">
                <a:solidFill>
                  <a:srgbClr val="475569"/>
                </a:solidFill>
              </a:rPr>
              <a:t>     Credits</a:t>
            </a:r>
            <a:endParaRPr lang="en-US" sz="1350" dirty="0"/>
          </a:p>
          <a:p>
            <a:pPr marL="0" indent="0">
              <a:buNone/>
            </a:pPr>
            <a:r>
              <a:rPr lang="en-US" sz="1350" dirty="0">
                <a:solidFill>
                  <a:srgbClr val="475569"/>
                </a:solidFill>
              </a:rPr>
              <a:t>     Grade</a:t>
            </a:r>
            <a:endParaRPr lang="en-US" sz="1350" dirty="0"/>
          </a:p>
          <a:p>
            <a:pPr marL="0" indent="0">
              <a:buNone/>
            </a:pPr>
            <a:r>
              <a:rPr lang="en-US" sz="1350" dirty="0">
                <a:solidFill>
                  <a:srgbClr val="475569"/>
                </a:solidFill>
              </a:rPr>
              <a:t>FK  SemesterId</a:t>
            </a:r>
            <a:endParaRPr lang="en-US" sz="1350" dirty="0"/>
          </a:p>
        </p:txBody>
      </p:sp>
      <p:sp>
        <p:nvSpPr>
          <p:cNvPr id="12" name="Shape 10"/>
          <p:cNvSpPr/>
          <p:nvPr/>
        </p:nvSpPr>
        <p:spPr>
          <a:xfrm>
            <a:off x="3886200" y="2606040"/>
            <a:ext cx="4114800" cy="0"/>
          </a:xfrm>
          <a:prstGeom prst="line">
            <a:avLst/>
          </a:prstGeom>
          <a:noFill/>
          <a:ln w="12700">
            <a:solidFill>
              <a:srgbClr val="0F766E"/>
            </a:solidFill>
            <a:prstDash val="solid"/>
            <a:headEnd type="none"/>
            <a:tailEnd type="triangle"/>
          </a:ln>
        </p:spPr>
        <p:txBody>
          <a:bodyPr/>
          <a:lstStyle/>
          <a:p>
            <a:endParaRPr lang="bg-BG"/>
          </a:p>
        </p:txBody>
      </p:sp>
      <p:sp>
        <p:nvSpPr>
          <p:cNvPr id="13" name="Text 11"/>
          <p:cNvSpPr/>
          <p:nvPr/>
        </p:nvSpPr>
        <p:spPr>
          <a:xfrm>
            <a:off x="3886200" y="2267712"/>
            <a:ext cx="228600" cy="228600"/>
          </a:xfrm>
          <a:prstGeom prst="rect">
            <a:avLst/>
          </a:prstGeom>
          <a:noFill/>
          <a:ln/>
        </p:spPr>
        <p:txBody>
          <a:bodyPr wrap="square" lIns="0" tIns="0" rIns="0" bIns="0" rtlCol="0" anchor="ctr"/>
          <a:lstStyle/>
          <a:p>
            <a:pPr marL="0" indent="0">
              <a:buNone/>
            </a:pPr>
            <a:r>
              <a:rPr lang="en-US" sz="1400" b="1" dirty="0">
                <a:solidFill>
                  <a:srgbClr val="0F766E"/>
                </a:solidFill>
              </a:rPr>
              <a:t>1</a:t>
            </a:r>
            <a:endParaRPr lang="en-US" sz="1400" dirty="0"/>
          </a:p>
        </p:txBody>
      </p:sp>
      <p:sp>
        <p:nvSpPr>
          <p:cNvPr id="14" name="Text 12"/>
          <p:cNvSpPr/>
          <p:nvPr/>
        </p:nvSpPr>
        <p:spPr>
          <a:xfrm>
            <a:off x="7726680" y="2267712"/>
            <a:ext cx="228600" cy="228600"/>
          </a:xfrm>
          <a:prstGeom prst="rect">
            <a:avLst/>
          </a:prstGeom>
          <a:noFill/>
          <a:ln/>
        </p:spPr>
        <p:txBody>
          <a:bodyPr wrap="square" lIns="0" tIns="0" rIns="0" bIns="0" rtlCol="0" anchor="ctr"/>
          <a:lstStyle/>
          <a:p>
            <a:pPr marL="0" indent="0">
              <a:buNone/>
            </a:pPr>
            <a:r>
              <a:rPr lang="en-US" sz="1400" b="1" dirty="0">
                <a:solidFill>
                  <a:srgbClr val="0F766E"/>
                </a:solidFill>
              </a:rPr>
              <a:t>N</a:t>
            </a:r>
            <a:endParaRPr lang="en-US" sz="1400" dirty="0"/>
          </a:p>
        </p:txBody>
      </p:sp>
      <p:sp>
        <p:nvSpPr>
          <p:cNvPr id="15" name="Text 13"/>
          <p:cNvSpPr/>
          <p:nvPr/>
        </p:nvSpPr>
        <p:spPr>
          <a:xfrm>
            <a:off x="5138928" y="2176272"/>
            <a:ext cx="1645920" cy="274320"/>
          </a:xfrm>
          <a:prstGeom prst="rect">
            <a:avLst/>
          </a:prstGeom>
          <a:noFill/>
          <a:ln/>
        </p:spPr>
        <p:txBody>
          <a:bodyPr wrap="square" lIns="0" tIns="0" rIns="0" bIns="0" rtlCol="0" anchor="ctr"/>
          <a:lstStyle/>
          <a:p>
            <a:pPr marL="0" indent="0" algn="ctr">
              <a:buNone/>
            </a:pPr>
            <a:r>
              <a:rPr lang="en-US" sz="1100" dirty="0">
                <a:solidFill>
                  <a:srgbClr val="64748B"/>
                </a:solidFill>
              </a:rPr>
              <a:t>one-to-many</a:t>
            </a:r>
            <a:endParaRPr lang="en-US" sz="1100" dirty="0"/>
          </a:p>
        </p:txBody>
      </p:sp>
      <p:sp>
        <p:nvSpPr>
          <p:cNvPr id="16" name="Shape 14"/>
          <p:cNvSpPr/>
          <p:nvPr/>
        </p:nvSpPr>
        <p:spPr>
          <a:xfrm>
            <a:off x="1005840" y="4434840"/>
            <a:ext cx="3063240" cy="1188720"/>
          </a:xfrm>
          <a:prstGeom prst="roundRect">
            <a:avLst>
              <a:gd name="adj" fmla="val 5385"/>
            </a:avLst>
          </a:prstGeom>
          <a:solidFill>
            <a:srgbClr val="F0FDF4"/>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17" name="Shape 15"/>
          <p:cNvSpPr/>
          <p:nvPr/>
        </p:nvSpPr>
        <p:spPr>
          <a:xfrm>
            <a:off x="1005840" y="4434840"/>
            <a:ext cx="73152" cy="1188720"/>
          </a:xfrm>
          <a:prstGeom prst="rect">
            <a:avLst/>
          </a:prstGeom>
          <a:solidFill>
            <a:srgbClr val="16A34A"/>
          </a:solidFill>
          <a:ln w="12700">
            <a:solidFill>
              <a:srgbClr val="16A34A"/>
            </a:solidFill>
            <a:prstDash val="solid"/>
          </a:ln>
        </p:spPr>
        <p:txBody>
          <a:bodyPr/>
          <a:lstStyle/>
          <a:p>
            <a:endParaRPr lang="bg-BG"/>
          </a:p>
        </p:txBody>
      </p:sp>
      <p:sp>
        <p:nvSpPr>
          <p:cNvPr id="18" name="Text 16"/>
          <p:cNvSpPr/>
          <p:nvPr/>
        </p:nvSpPr>
        <p:spPr>
          <a:xfrm>
            <a:off x="1216152" y="4599432"/>
            <a:ext cx="2743200" cy="320040"/>
          </a:xfrm>
          <a:prstGeom prst="rect">
            <a:avLst/>
          </a:prstGeom>
          <a:noFill/>
          <a:ln/>
        </p:spPr>
        <p:txBody>
          <a:bodyPr wrap="square" lIns="0" tIns="0" rIns="0" bIns="0" rtlCol="0" anchor="ctr"/>
          <a:lstStyle/>
          <a:p>
            <a:pPr marL="0" indent="0">
              <a:buNone/>
            </a:pPr>
            <a:r>
              <a:rPr lang="en-US" sz="1450" b="1" dirty="0">
                <a:solidFill>
                  <a:srgbClr val="102A43"/>
                </a:solidFill>
              </a:rPr>
              <a:t>Persistent storage</a:t>
            </a:r>
            <a:endParaRPr lang="en-US" sz="1450" dirty="0"/>
          </a:p>
        </p:txBody>
      </p:sp>
      <p:sp>
        <p:nvSpPr>
          <p:cNvPr id="19" name="Text 17"/>
          <p:cNvSpPr/>
          <p:nvPr/>
        </p:nvSpPr>
        <p:spPr>
          <a:xfrm>
            <a:off x="1216152" y="5001768"/>
            <a:ext cx="2734056" cy="457200"/>
          </a:xfrm>
          <a:prstGeom prst="rect">
            <a:avLst/>
          </a:prstGeom>
          <a:noFill/>
          <a:ln/>
        </p:spPr>
        <p:txBody>
          <a:bodyPr wrap="square" lIns="254" tIns="254" rIns="254" bIns="254" rtlCol="0" anchor="t"/>
          <a:lstStyle/>
          <a:p>
            <a:pPr marL="0" indent="0">
              <a:buNone/>
            </a:pPr>
            <a:r>
              <a:rPr lang="en-US" sz="1170" dirty="0">
                <a:solidFill>
                  <a:srgbClr val="475569"/>
                </a:solidFill>
              </a:rPr>
              <a:t>Courses and semesters remain available after restart.</a:t>
            </a:r>
            <a:endParaRPr lang="en-US" sz="1170" dirty="0"/>
          </a:p>
        </p:txBody>
      </p:sp>
      <p:sp>
        <p:nvSpPr>
          <p:cNvPr id="20" name="Shape 18"/>
          <p:cNvSpPr/>
          <p:nvPr/>
        </p:nvSpPr>
        <p:spPr>
          <a:xfrm>
            <a:off x="4553712" y="4434840"/>
            <a:ext cx="3063240" cy="1188720"/>
          </a:xfrm>
          <a:prstGeom prst="roundRect">
            <a:avLst>
              <a:gd name="adj" fmla="val 5385"/>
            </a:avLst>
          </a:prstGeom>
          <a:solidFill>
            <a:srgbClr val="EFF6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1" name="Shape 19"/>
          <p:cNvSpPr/>
          <p:nvPr/>
        </p:nvSpPr>
        <p:spPr>
          <a:xfrm>
            <a:off x="4553712" y="4434840"/>
            <a:ext cx="73152" cy="1188720"/>
          </a:xfrm>
          <a:prstGeom prst="rect">
            <a:avLst/>
          </a:prstGeom>
          <a:solidFill>
            <a:srgbClr val="2563EB"/>
          </a:solidFill>
          <a:ln w="12700">
            <a:solidFill>
              <a:srgbClr val="2563EB"/>
            </a:solidFill>
            <a:prstDash val="solid"/>
          </a:ln>
        </p:spPr>
        <p:txBody>
          <a:bodyPr/>
          <a:lstStyle/>
          <a:p>
            <a:endParaRPr lang="bg-BG"/>
          </a:p>
        </p:txBody>
      </p:sp>
      <p:sp>
        <p:nvSpPr>
          <p:cNvPr id="22" name="Text 20"/>
          <p:cNvSpPr/>
          <p:nvPr/>
        </p:nvSpPr>
        <p:spPr>
          <a:xfrm>
            <a:off x="4764024" y="4599432"/>
            <a:ext cx="2743200" cy="320040"/>
          </a:xfrm>
          <a:prstGeom prst="rect">
            <a:avLst/>
          </a:prstGeom>
          <a:noFill/>
          <a:ln/>
        </p:spPr>
        <p:txBody>
          <a:bodyPr wrap="square" lIns="0" tIns="0" rIns="0" bIns="0" rtlCol="0" anchor="ctr"/>
          <a:lstStyle/>
          <a:p>
            <a:pPr marL="0" indent="0">
              <a:buNone/>
            </a:pPr>
            <a:r>
              <a:rPr lang="en-US" sz="1450" b="1" dirty="0">
                <a:solidFill>
                  <a:srgbClr val="102A43"/>
                </a:solidFill>
              </a:rPr>
              <a:t>EF Core migrations</a:t>
            </a:r>
            <a:endParaRPr lang="en-US" sz="1450" dirty="0"/>
          </a:p>
        </p:txBody>
      </p:sp>
      <p:sp>
        <p:nvSpPr>
          <p:cNvPr id="23" name="Text 21"/>
          <p:cNvSpPr/>
          <p:nvPr/>
        </p:nvSpPr>
        <p:spPr>
          <a:xfrm>
            <a:off x="4764024" y="5001768"/>
            <a:ext cx="2734056" cy="457200"/>
          </a:xfrm>
          <a:prstGeom prst="rect">
            <a:avLst/>
          </a:prstGeom>
          <a:noFill/>
          <a:ln/>
        </p:spPr>
        <p:txBody>
          <a:bodyPr wrap="square" lIns="254" tIns="254" rIns="254" bIns="254" rtlCol="0" anchor="t"/>
          <a:lstStyle/>
          <a:p>
            <a:pPr marL="0" indent="0">
              <a:buNone/>
            </a:pPr>
            <a:r>
              <a:rPr lang="en-US" sz="1170" dirty="0">
                <a:solidFill>
                  <a:srgbClr val="475569"/>
                </a:solidFill>
              </a:rPr>
              <a:t>Database structure is versioned and can be recreated.</a:t>
            </a:r>
            <a:endParaRPr lang="en-US" sz="1170" dirty="0"/>
          </a:p>
        </p:txBody>
      </p:sp>
      <p:sp>
        <p:nvSpPr>
          <p:cNvPr id="24" name="Shape 22"/>
          <p:cNvSpPr/>
          <p:nvPr/>
        </p:nvSpPr>
        <p:spPr>
          <a:xfrm>
            <a:off x="8101584" y="4434840"/>
            <a:ext cx="3063240" cy="1188720"/>
          </a:xfrm>
          <a:prstGeom prst="roundRect">
            <a:avLst>
              <a:gd name="adj" fmla="val 5385"/>
            </a:avLst>
          </a:prstGeom>
          <a:solidFill>
            <a:srgbClr val="FFF7ED"/>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5" name="Shape 23"/>
          <p:cNvSpPr/>
          <p:nvPr/>
        </p:nvSpPr>
        <p:spPr>
          <a:xfrm>
            <a:off x="8101584" y="4434840"/>
            <a:ext cx="73152" cy="1188720"/>
          </a:xfrm>
          <a:prstGeom prst="rect">
            <a:avLst/>
          </a:prstGeom>
          <a:solidFill>
            <a:srgbClr val="D97706"/>
          </a:solidFill>
          <a:ln w="12700">
            <a:solidFill>
              <a:srgbClr val="D97706"/>
            </a:solidFill>
            <a:prstDash val="solid"/>
          </a:ln>
        </p:spPr>
        <p:txBody>
          <a:bodyPr/>
          <a:lstStyle/>
          <a:p>
            <a:endParaRPr lang="bg-BG"/>
          </a:p>
        </p:txBody>
      </p:sp>
      <p:sp>
        <p:nvSpPr>
          <p:cNvPr id="26" name="Text 24"/>
          <p:cNvSpPr/>
          <p:nvPr/>
        </p:nvSpPr>
        <p:spPr>
          <a:xfrm>
            <a:off x="8311896" y="4599432"/>
            <a:ext cx="2743200" cy="320040"/>
          </a:xfrm>
          <a:prstGeom prst="rect">
            <a:avLst/>
          </a:prstGeom>
          <a:noFill/>
          <a:ln/>
        </p:spPr>
        <p:txBody>
          <a:bodyPr wrap="square" lIns="0" tIns="0" rIns="0" bIns="0" rtlCol="0" anchor="ctr"/>
          <a:lstStyle/>
          <a:p>
            <a:pPr marL="0" indent="0">
              <a:buNone/>
            </a:pPr>
            <a:r>
              <a:rPr lang="en-US" sz="1450" b="1" dirty="0">
                <a:solidFill>
                  <a:srgbClr val="102A43"/>
                </a:solidFill>
              </a:rPr>
              <a:t>Clean repository</a:t>
            </a:r>
            <a:endParaRPr lang="en-US" sz="1450" dirty="0"/>
          </a:p>
        </p:txBody>
      </p:sp>
      <p:sp>
        <p:nvSpPr>
          <p:cNvPr id="27" name="Text 25"/>
          <p:cNvSpPr/>
          <p:nvPr/>
        </p:nvSpPr>
        <p:spPr>
          <a:xfrm>
            <a:off x="8311896" y="5001768"/>
            <a:ext cx="2734056" cy="457200"/>
          </a:xfrm>
          <a:prstGeom prst="rect">
            <a:avLst/>
          </a:prstGeom>
          <a:noFill/>
          <a:ln/>
        </p:spPr>
        <p:txBody>
          <a:bodyPr wrap="square" lIns="254" tIns="254" rIns="254" bIns="254" rtlCol="0" anchor="t"/>
          <a:lstStyle/>
          <a:p>
            <a:pPr marL="0" indent="0">
              <a:buNone/>
            </a:pPr>
            <a:r>
              <a:rPr lang="en-US" sz="1170" dirty="0">
                <a:solidFill>
                  <a:srgbClr val="475569"/>
                </a:solidFill>
              </a:rPr>
              <a:t>Local SQLite data is excluded through .gitignore.</a:t>
            </a:r>
            <a:endParaRPr lang="en-US" sz="1170" dirty="0"/>
          </a:p>
        </p:txBody>
      </p:sp>
      <p:sp>
        <p:nvSpPr>
          <p:cNvPr id="28"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4. Features Implemented So Far</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The project already supports the full core academic workflow</a:t>
            </a:r>
            <a:endParaRPr lang="en-US" sz="1250" dirty="0"/>
          </a:p>
        </p:txBody>
      </p:sp>
      <p:sp>
        <p:nvSpPr>
          <p:cNvPr id="4" name="Shape 2"/>
          <p:cNvSpPr/>
          <p:nvPr/>
        </p:nvSpPr>
        <p:spPr>
          <a:xfrm>
            <a:off x="594360" y="1325880"/>
            <a:ext cx="6903720" cy="4434840"/>
          </a:xfrm>
          <a:prstGeom prst="roundRect">
            <a:avLst/>
          </a:prstGeom>
          <a:solidFill>
            <a:srgbClr val="FFFFFF"/>
          </a:solidFill>
          <a:ln w="12700">
            <a:solidFill>
              <a:srgbClr val="D8E1EA"/>
            </a:solidFill>
            <a:prstDash val="solid"/>
          </a:ln>
        </p:spPr>
        <p:txBody>
          <a:bodyPr/>
          <a:lstStyle/>
          <a:p>
            <a:endParaRPr lang="bg-BG"/>
          </a:p>
        </p:txBody>
      </p:sp>
      <p:pic>
        <p:nvPicPr>
          <p:cNvPr id="5" name="Image 0" descr="/mnt/data/Screenshot 2026-09-23 195105.png"/>
          <p:cNvPicPr>
            <a:picLocks noChangeAspect="1"/>
          </p:cNvPicPr>
          <p:nvPr/>
        </p:nvPicPr>
        <p:blipFill>
          <a:blip r:embed="rId3"/>
          <a:stretch>
            <a:fillRect/>
          </a:stretch>
        </p:blipFill>
        <p:spPr>
          <a:xfrm>
            <a:off x="704088" y="1435608"/>
            <a:ext cx="6684264" cy="4215384"/>
          </a:xfrm>
          <a:prstGeom prst="rect">
            <a:avLst/>
          </a:prstGeom>
        </p:spPr>
      </p:pic>
      <p:sp>
        <p:nvSpPr>
          <p:cNvPr id="6" name="Text 3"/>
          <p:cNvSpPr/>
          <p:nvPr/>
        </p:nvSpPr>
        <p:spPr>
          <a:xfrm>
            <a:off x="822960" y="5833872"/>
            <a:ext cx="2834640" cy="237744"/>
          </a:xfrm>
          <a:prstGeom prst="rect">
            <a:avLst/>
          </a:prstGeom>
          <a:noFill/>
          <a:ln/>
        </p:spPr>
        <p:txBody>
          <a:bodyPr wrap="square" lIns="0" tIns="0" rIns="0" bIns="0" rtlCol="0" anchor="ctr"/>
          <a:lstStyle/>
          <a:p>
            <a:pPr marL="0" indent="0">
              <a:buNone/>
            </a:pPr>
            <a:r>
              <a:rPr lang="en-US" sz="1050" i="1" dirty="0">
                <a:solidFill>
                  <a:srgbClr val="64748B"/>
                </a:solidFill>
              </a:rPr>
              <a:t>Real dashboard screenshot</a:t>
            </a:r>
            <a:endParaRPr lang="en-US" sz="1050" dirty="0"/>
          </a:p>
        </p:txBody>
      </p:sp>
      <p:sp>
        <p:nvSpPr>
          <p:cNvPr id="7" name="Shape 4"/>
          <p:cNvSpPr/>
          <p:nvPr/>
        </p:nvSpPr>
        <p:spPr>
          <a:xfrm>
            <a:off x="7909560" y="1463040"/>
            <a:ext cx="219456" cy="219456"/>
          </a:xfrm>
          <a:prstGeom prst="ellipse">
            <a:avLst/>
          </a:prstGeom>
          <a:solidFill>
            <a:srgbClr val="2563EB"/>
          </a:solidFill>
          <a:ln w="12700">
            <a:solidFill>
              <a:srgbClr val="2563EB"/>
            </a:solidFill>
            <a:prstDash val="solid"/>
          </a:ln>
        </p:spPr>
        <p:txBody>
          <a:bodyPr/>
          <a:lstStyle/>
          <a:p>
            <a:endParaRPr lang="bg-BG"/>
          </a:p>
        </p:txBody>
      </p:sp>
      <p:sp>
        <p:nvSpPr>
          <p:cNvPr id="8" name="Text 5"/>
          <p:cNvSpPr/>
          <p:nvPr/>
        </p:nvSpPr>
        <p:spPr>
          <a:xfrm>
            <a:off x="8257032" y="1417320"/>
            <a:ext cx="2926080" cy="274320"/>
          </a:xfrm>
          <a:prstGeom prst="rect">
            <a:avLst/>
          </a:prstGeom>
          <a:noFill/>
          <a:ln/>
        </p:spPr>
        <p:txBody>
          <a:bodyPr wrap="square" lIns="0" tIns="0" rIns="0" bIns="0" rtlCol="0" anchor="ctr"/>
          <a:lstStyle/>
          <a:p>
            <a:pPr marL="0" indent="0">
              <a:buNone/>
            </a:pPr>
            <a:r>
              <a:rPr lang="en-US" sz="1430" b="1" dirty="0">
                <a:solidFill>
                  <a:srgbClr val="102A43"/>
                </a:solidFill>
              </a:rPr>
              <a:t>Course CRUD</a:t>
            </a:r>
            <a:endParaRPr lang="en-US" sz="1430" dirty="0"/>
          </a:p>
        </p:txBody>
      </p:sp>
      <p:sp>
        <p:nvSpPr>
          <p:cNvPr id="9" name="Text 6"/>
          <p:cNvSpPr/>
          <p:nvPr/>
        </p:nvSpPr>
        <p:spPr>
          <a:xfrm>
            <a:off x="8257032" y="1728216"/>
            <a:ext cx="3154680" cy="457200"/>
          </a:xfrm>
          <a:prstGeom prst="rect">
            <a:avLst/>
          </a:prstGeom>
          <a:noFill/>
          <a:ln/>
        </p:spPr>
        <p:txBody>
          <a:bodyPr wrap="square" lIns="0" tIns="0" rIns="0" bIns="0" rtlCol="0" anchor="ctr"/>
          <a:lstStyle/>
          <a:p>
            <a:pPr marL="0" indent="0">
              <a:buNone/>
            </a:pPr>
            <a:r>
              <a:rPr lang="en-US" sz="1160" dirty="0">
                <a:solidFill>
                  <a:srgbClr val="475569"/>
                </a:solidFill>
              </a:rPr>
              <a:t>Add, view, edit and delete courses</a:t>
            </a:r>
            <a:endParaRPr lang="en-US" sz="1160" dirty="0"/>
          </a:p>
        </p:txBody>
      </p:sp>
      <p:sp>
        <p:nvSpPr>
          <p:cNvPr id="10" name="Shape 7"/>
          <p:cNvSpPr/>
          <p:nvPr/>
        </p:nvSpPr>
        <p:spPr>
          <a:xfrm>
            <a:off x="7909560" y="2404872"/>
            <a:ext cx="219456" cy="219456"/>
          </a:xfrm>
          <a:prstGeom prst="ellipse">
            <a:avLst/>
          </a:prstGeom>
          <a:solidFill>
            <a:srgbClr val="0F766E"/>
          </a:solidFill>
          <a:ln w="12700">
            <a:solidFill>
              <a:srgbClr val="0F766E"/>
            </a:solidFill>
            <a:prstDash val="solid"/>
          </a:ln>
        </p:spPr>
        <p:txBody>
          <a:bodyPr/>
          <a:lstStyle/>
          <a:p>
            <a:endParaRPr lang="bg-BG"/>
          </a:p>
        </p:txBody>
      </p:sp>
      <p:sp>
        <p:nvSpPr>
          <p:cNvPr id="11" name="Text 8"/>
          <p:cNvSpPr/>
          <p:nvPr/>
        </p:nvSpPr>
        <p:spPr>
          <a:xfrm>
            <a:off x="8257032" y="2359152"/>
            <a:ext cx="2926080" cy="274320"/>
          </a:xfrm>
          <a:prstGeom prst="rect">
            <a:avLst/>
          </a:prstGeom>
          <a:noFill/>
          <a:ln/>
        </p:spPr>
        <p:txBody>
          <a:bodyPr wrap="square" lIns="0" tIns="0" rIns="0" bIns="0" rtlCol="0" anchor="ctr"/>
          <a:lstStyle/>
          <a:p>
            <a:pPr marL="0" indent="0">
              <a:buNone/>
            </a:pPr>
            <a:r>
              <a:rPr lang="en-US" sz="1430" b="1" dirty="0">
                <a:solidFill>
                  <a:srgbClr val="102A43"/>
                </a:solidFill>
              </a:rPr>
              <a:t>Semester management</a:t>
            </a:r>
            <a:endParaRPr lang="en-US" sz="1430" dirty="0"/>
          </a:p>
        </p:txBody>
      </p:sp>
      <p:sp>
        <p:nvSpPr>
          <p:cNvPr id="12" name="Text 9"/>
          <p:cNvSpPr/>
          <p:nvPr/>
        </p:nvSpPr>
        <p:spPr>
          <a:xfrm>
            <a:off x="8257032" y="2670048"/>
            <a:ext cx="3154680" cy="457200"/>
          </a:xfrm>
          <a:prstGeom prst="rect">
            <a:avLst/>
          </a:prstGeom>
          <a:noFill/>
          <a:ln/>
        </p:spPr>
        <p:txBody>
          <a:bodyPr wrap="square" lIns="0" tIns="0" rIns="0" bIns="0" rtlCol="0" anchor="ctr"/>
          <a:lstStyle/>
          <a:p>
            <a:pPr marL="0" indent="0">
              <a:buNone/>
            </a:pPr>
            <a:r>
              <a:rPr lang="en-US" sz="1160" dirty="0">
                <a:solidFill>
                  <a:srgbClr val="475569"/>
                </a:solidFill>
              </a:rPr>
              <a:t>One-to-many course relationship + semester GPA</a:t>
            </a:r>
            <a:endParaRPr lang="en-US" sz="1160" dirty="0"/>
          </a:p>
        </p:txBody>
      </p:sp>
      <p:sp>
        <p:nvSpPr>
          <p:cNvPr id="13" name="Shape 10"/>
          <p:cNvSpPr/>
          <p:nvPr/>
        </p:nvSpPr>
        <p:spPr>
          <a:xfrm>
            <a:off x="7909560" y="3346704"/>
            <a:ext cx="219456" cy="219456"/>
          </a:xfrm>
          <a:prstGeom prst="ellipse">
            <a:avLst/>
          </a:prstGeom>
          <a:solidFill>
            <a:srgbClr val="16A34A"/>
          </a:solidFill>
          <a:ln w="12700">
            <a:solidFill>
              <a:srgbClr val="16A34A"/>
            </a:solidFill>
            <a:prstDash val="solid"/>
          </a:ln>
        </p:spPr>
        <p:txBody>
          <a:bodyPr/>
          <a:lstStyle/>
          <a:p>
            <a:endParaRPr lang="bg-BG"/>
          </a:p>
        </p:txBody>
      </p:sp>
      <p:sp>
        <p:nvSpPr>
          <p:cNvPr id="14" name="Text 11"/>
          <p:cNvSpPr/>
          <p:nvPr/>
        </p:nvSpPr>
        <p:spPr>
          <a:xfrm>
            <a:off x="8257032" y="3300984"/>
            <a:ext cx="2926080" cy="274320"/>
          </a:xfrm>
          <a:prstGeom prst="rect">
            <a:avLst/>
          </a:prstGeom>
          <a:noFill/>
          <a:ln/>
        </p:spPr>
        <p:txBody>
          <a:bodyPr wrap="square" lIns="0" tIns="0" rIns="0" bIns="0" rtlCol="0" anchor="ctr"/>
          <a:lstStyle/>
          <a:p>
            <a:pPr marL="0" indent="0">
              <a:buNone/>
            </a:pPr>
            <a:r>
              <a:rPr lang="en-US" sz="1430" b="1" dirty="0">
                <a:solidFill>
                  <a:srgbClr val="102A43"/>
                </a:solidFill>
              </a:rPr>
              <a:t>Academic statistics</a:t>
            </a:r>
            <a:endParaRPr lang="en-US" sz="1430" dirty="0"/>
          </a:p>
        </p:txBody>
      </p:sp>
      <p:sp>
        <p:nvSpPr>
          <p:cNvPr id="15" name="Text 12"/>
          <p:cNvSpPr/>
          <p:nvPr/>
        </p:nvSpPr>
        <p:spPr>
          <a:xfrm>
            <a:off x="8257032" y="3611880"/>
            <a:ext cx="3154680" cy="457200"/>
          </a:xfrm>
          <a:prstGeom prst="rect">
            <a:avLst/>
          </a:prstGeom>
          <a:noFill/>
          <a:ln/>
        </p:spPr>
        <p:txBody>
          <a:bodyPr wrap="square" lIns="0" tIns="0" rIns="0" bIns="0" rtlCol="0" anchor="ctr"/>
          <a:lstStyle/>
          <a:p>
            <a:pPr marL="0" indent="0">
              <a:buNone/>
            </a:pPr>
            <a:r>
              <a:rPr lang="en-US" sz="1160" dirty="0">
                <a:solidFill>
                  <a:srgbClr val="475569"/>
                </a:solidFill>
              </a:rPr>
              <a:t>Cumulative GPA, earned / attempted credits</a:t>
            </a:r>
            <a:endParaRPr lang="en-US" sz="1160" dirty="0"/>
          </a:p>
        </p:txBody>
      </p:sp>
      <p:sp>
        <p:nvSpPr>
          <p:cNvPr id="16" name="Shape 13"/>
          <p:cNvSpPr/>
          <p:nvPr/>
        </p:nvSpPr>
        <p:spPr>
          <a:xfrm>
            <a:off x="7909560" y="4288536"/>
            <a:ext cx="219456" cy="219456"/>
          </a:xfrm>
          <a:prstGeom prst="ellipse">
            <a:avLst/>
          </a:prstGeom>
          <a:solidFill>
            <a:srgbClr val="D97706"/>
          </a:solidFill>
          <a:ln w="12700">
            <a:solidFill>
              <a:srgbClr val="D97706"/>
            </a:solidFill>
            <a:prstDash val="solid"/>
          </a:ln>
        </p:spPr>
        <p:txBody>
          <a:bodyPr/>
          <a:lstStyle/>
          <a:p>
            <a:endParaRPr lang="bg-BG"/>
          </a:p>
        </p:txBody>
      </p:sp>
      <p:sp>
        <p:nvSpPr>
          <p:cNvPr id="17" name="Text 14"/>
          <p:cNvSpPr/>
          <p:nvPr/>
        </p:nvSpPr>
        <p:spPr>
          <a:xfrm>
            <a:off x="8257032" y="4242816"/>
            <a:ext cx="2926080" cy="274320"/>
          </a:xfrm>
          <a:prstGeom prst="rect">
            <a:avLst/>
          </a:prstGeom>
          <a:noFill/>
          <a:ln/>
        </p:spPr>
        <p:txBody>
          <a:bodyPr wrap="square" lIns="0" tIns="0" rIns="0" bIns="0" rtlCol="0" anchor="ctr"/>
          <a:lstStyle/>
          <a:p>
            <a:pPr marL="0" indent="0">
              <a:buNone/>
            </a:pPr>
            <a:r>
              <a:rPr lang="en-US" sz="1430" b="1" dirty="0">
                <a:solidFill>
                  <a:srgbClr val="102A43"/>
                </a:solidFill>
              </a:rPr>
              <a:t>What-if calculator</a:t>
            </a:r>
            <a:endParaRPr lang="en-US" sz="1430" dirty="0"/>
          </a:p>
        </p:txBody>
      </p:sp>
      <p:sp>
        <p:nvSpPr>
          <p:cNvPr id="18" name="Text 15"/>
          <p:cNvSpPr/>
          <p:nvPr/>
        </p:nvSpPr>
        <p:spPr>
          <a:xfrm>
            <a:off x="8257032" y="4553712"/>
            <a:ext cx="3154680" cy="457200"/>
          </a:xfrm>
          <a:prstGeom prst="rect">
            <a:avLst/>
          </a:prstGeom>
          <a:noFill/>
          <a:ln/>
        </p:spPr>
        <p:txBody>
          <a:bodyPr wrap="square" lIns="0" tIns="0" rIns="0" bIns="0" rtlCol="0" anchor="ctr"/>
          <a:lstStyle/>
          <a:p>
            <a:pPr marL="0" indent="0">
              <a:buNone/>
            </a:pPr>
            <a:r>
              <a:rPr lang="en-US" sz="1160" dirty="0">
                <a:solidFill>
                  <a:srgbClr val="475569"/>
                </a:solidFill>
              </a:rPr>
              <a:t>Temporary future courses without changing stored data</a:t>
            </a:r>
            <a:endParaRPr lang="en-US" sz="1160" dirty="0"/>
          </a:p>
        </p:txBody>
      </p:sp>
      <p:sp>
        <p:nvSpPr>
          <p:cNvPr id="19" name="Shape 16"/>
          <p:cNvSpPr/>
          <p:nvPr/>
        </p:nvSpPr>
        <p:spPr>
          <a:xfrm>
            <a:off x="7909560" y="5230368"/>
            <a:ext cx="219456" cy="219456"/>
          </a:xfrm>
          <a:prstGeom prst="ellipse">
            <a:avLst/>
          </a:prstGeom>
          <a:solidFill>
            <a:srgbClr val="7C3AED"/>
          </a:solidFill>
          <a:ln w="12700">
            <a:solidFill>
              <a:srgbClr val="7C3AED"/>
            </a:solidFill>
            <a:prstDash val="solid"/>
          </a:ln>
        </p:spPr>
        <p:txBody>
          <a:bodyPr/>
          <a:lstStyle/>
          <a:p>
            <a:endParaRPr lang="bg-BG"/>
          </a:p>
        </p:txBody>
      </p:sp>
      <p:sp>
        <p:nvSpPr>
          <p:cNvPr id="20" name="Text 17"/>
          <p:cNvSpPr/>
          <p:nvPr/>
        </p:nvSpPr>
        <p:spPr>
          <a:xfrm>
            <a:off x="8257032" y="5184648"/>
            <a:ext cx="2926080" cy="274320"/>
          </a:xfrm>
          <a:prstGeom prst="rect">
            <a:avLst/>
          </a:prstGeom>
          <a:noFill/>
          <a:ln/>
        </p:spPr>
        <p:txBody>
          <a:bodyPr wrap="square" lIns="0" tIns="0" rIns="0" bIns="0" rtlCol="0" anchor="ctr"/>
          <a:lstStyle/>
          <a:p>
            <a:pPr marL="0" indent="0">
              <a:buNone/>
            </a:pPr>
            <a:r>
              <a:rPr lang="en-US" sz="1430" b="1" dirty="0">
                <a:solidFill>
                  <a:srgbClr val="102A43"/>
                </a:solidFill>
              </a:rPr>
              <a:t>Target GPA solver</a:t>
            </a:r>
            <a:endParaRPr lang="en-US" sz="1430" dirty="0"/>
          </a:p>
        </p:txBody>
      </p:sp>
      <p:sp>
        <p:nvSpPr>
          <p:cNvPr id="21" name="Text 18"/>
          <p:cNvSpPr/>
          <p:nvPr/>
        </p:nvSpPr>
        <p:spPr>
          <a:xfrm>
            <a:off x="8257032" y="5495544"/>
            <a:ext cx="3154680" cy="457200"/>
          </a:xfrm>
          <a:prstGeom prst="rect">
            <a:avLst/>
          </a:prstGeom>
          <a:noFill/>
          <a:ln/>
        </p:spPr>
        <p:txBody>
          <a:bodyPr wrap="square" lIns="0" tIns="0" rIns="0" bIns="0" rtlCol="0" anchor="ctr"/>
          <a:lstStyle/>
          <a:p>
            <a:pPr marL="0" indent="0">
              <a:buNone/>
            </a:pPr>
            <a:r>
              <a:rPr lang="en-US" sz="1160" dirty="0">
                <a:solidFill>
                  <a:srgbClr val="475569"/>
                </a:solidFill>
              </a:rPr>
              <a:t>Automatically recommends future grade combinations</a:t>
            </a:r>
            <a:endParaRPr lang="en-US" sz="1160" dirty="0"/>
          </a:p>
        </p:txBody>
      </p:sp>
      <p:sp>
        <p:nvSpPr>
          <p:cNvPr id="25"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5. What-if GPA Calculator</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 safe simulation layer that never changes the real academic record</a:t>
            </a:r>
            <a:endParaRPr lang="en-US" sz="1250" dirty="0"/>
          </a:p>
        </p:txBody>
      </p:sp>
      <p:sp>
        <p:nvSpPr>
          <p:cNvPr id="4" name="Shape 2"/>
          <p:cNvSpPr/>
          <p:nvPr/>
        </p:nvSpPr>
        <p:spPr>
          <a:xfrm>
            <a:off x="868680" y="1600200"/>
            <a:ext cx="2834640" cy="1371600"/>
          </a:xfrm>
          <a:prstGeom prst="roundRect">
            <a:avLst>
              <a:gd name="adj" fmla="val 4667"/>
            </a:avLst>
          </a:prstGeom>
          <a:solidFill>
            <a:srgbClr val="EFF6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5" name="Shape 3"/>
          <p:cNvSpPr/>
          <p:nvPr/>
        </p:nvSpPr>
        <p:spPr>
          <a:xfrm>
            <a:off x="868680" y="1600200"/>
            <a:ext cx="73152" cy="1371600"/>
          </a:xfrm>
          <a:prstGeom prst="rect">
            <a:avLst/>
          </a:prstGeom>
          <a:solidFill>
            <a:srgbClr val="2563EB"/>
          </a:solidFill>
          <a:ln w="12700">
            <a:solidFill>
              <a:srgbClr val="2563EB"/>
            </a:solidFill>
            <a:prstDash val="solid"/>
          </a:ln>
        </p:spPr>
        <p:txBody>
          <a:bodyPr/>
          <a:lstStyle/>
          <a:p>
            <a:endParaRPr lang="bg-BG"/>
          </a:p>
        </p:txBody>
      </p:sp>
      <p:sp>
        <p:nvSpPr>
          <p:cNvPr id="6" name="Text 4"/>
          <p:cNvSpPr/>
          <p:nvPr/>
        </p:nvSpPr>
        <p:spPr>
          <a:xfrm>
            <a:off x="1078992" y="1764792"/>
            <a:ext cx="2514600" cy="320040"/>
          </a:xfrm>
          <a:prstGeom prst="rect">
            <a:avLst/>
          </a:prstGeom>
          <a:noFill/>
          <a:ln/>
        </p:spPr>
        <p:txBody>
          <a:bodyPr wrap="square" lIns="0" tIns="0" rIns="0" bIns="0" rtlCol="0" anchor="ctr"/>
          <a:lstStyle/>
          <a:p>
            <a:pPr marL="0" indent="0">
              <a:buNone/>
            </a:pPr>
            <a:r>
              <a:rPr lang="en-US" sz="1500" b="1" dirty="0">
                <a:solidFill>
                  <a:srgbClr val="102A43"/>
                </a:solidFill>
              </a:rPr>
              <a:t>Stored academic record</a:t>
            </a:r>
            <a:endParaRPr lang="en-US" sz="1500" dirty="0"/>
          </a:p>
        </p:txBody>
      </p:sp>
      <p:sp>
        <p:nvSpPr>
          <p:cNvPr id="7" name="Text 5"/>
          <p:cNvSpPr/>
          <p:nvPr/>
        </p:nvSpPr>
        <p:spPr>
          <a:xfrm>
            <a:off x="1078992" y="2167128"/>
            <a:ext cx="2505456" cy="640080"/>
          </a:xfrm>
          <a:prstGeom prst="rect">
            <a:avLst/>
          </a:prstGeom>
          <a:noFill/>
          <a:ln/>
        </p:spPr>
        <p:txBody>
          <a:bodyPr wrap="square" lIns="254" tIns="254" rIns="254" bIns="254" rtlCol="0" anchor="t"/>
          <a:lstStyle/>
          <a:p>
            <a:pPr marL="0" indent="0">
              <a:buNone/>
            </a:pPr>
            <a:r>
              <a:rPr lang="en-US" sz="1220" dirty="0">
                <a:solidFill>
                  <a:srgbClr val="475569"/>
                </a:solidFill>
              </a:rPr>
              <a:t>Current courses and grades loaded from SQLite.</a:t>
            </a:r>
            <a:endParaRPr lang="en-US" sz="1220" dirty="0"/>
          </a:p>
        </p:txBody>
      </p:sp>
      <p:sp>
        <p:nvSpPr>
          <p:cNvPr id="8" name="Shape 6"/>
          <p:cNvSpPr/>
          <p:nvPr/>
        </p:nvSpPr>
        <p:spPr>
          <a:xfrm>
            <a:off x="868680" y="3794760"/>
            <a:ext cx="2834640" cy="1371600"/>
          </a:xfrm>
          <a:prstGeom prst="roundRect">
            <a:avLst>
              <a:gd name="adj" fmla="val 4667"/>
            </a:avLst>
          </a:prstGeom>
          <a:solidFill>
            <a:srgbClr val="FFF7ED"/>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9" name="Shape 7"/>
          <p:cNvSpPr/>
          <p:nvPr/>
        </p:nvSpPr>
        <p:spPr>
          <a:xfrm>
            <a:off x="868680" y="3794760"/>
            <a:ext cx="73152" cy="1371600"/>
          </a:xfrm>
          <a:prstGeom prst="rect">
            <a:avLst/>
          </a:prstGeom>
          <a:solidFill>
            <a:srgbClr val="D97706"/>
          </a:solidFill>
          <a:ln w="12700">
            <a:solidFill>
              <a:srgbClr val="D97706"/>
            </a:solidFill>
            <a:prstDash val="solid"/>
          </a:ln>
        </p:spPr>
        <p:txBody>
          <a:bodyPr/>
          <a:lstStyle/>
          <a:p>
            <a:endParaRPr lang="bg-BG"/>
          </a:p>
        </p:txBody>
      </p:sp>
      <p:sp>
        <p:nvSpPr>
          <p:cNvPr id="10" name="Text 8"/>
          <p:cNvSpPr/>
          <p:nvPr/>
        </p:nvSpPr>
        <p:spPr>
          <a:xfrm>
            <a:off x="1078992" y="3959352"/>
            <a:ext cx="2514600" cy="320040"/>
          </a:xfrm>
          <a:prstGeom prst="rect">
            <a:avLst/>
          </a:prstGeom>
          <a:noFill/>
          <a:ln/>
        </p:spPr>
        <p:txBody>
          <a:bodyPr wrap="square" lIns="0" tIns="0" rIns="0" bIns="0" rtlCol="0" anchor="ctr"/>
          <a:lstStyle/>
          <a:p>
            <a:pPr marL="0" indent="0">
              <a:buNone/>
            </a:pPr>
            <a:r>
              <a:rPr lang="en-US" sz="1500" b="1" dirty="0">
                <a:solidFill>
                  <a:srgbClr val="102A43"/>
                </a:solidFill>
              </a:rPr>
              <a:t>Hypothetical courses</a:t>
            </a:r>
            <a:endParaRPr lang="en-US" sz="1500" dirty="0"/>
          </a:p>
        </p:txBody>
      </p:sp>
      <p:sp>
        <p:nvSpPr>
          <p:cNvPr id="11" name="Text 9"/>
          <p:cNvSpPr/>
          <p:nvPr/>
        </p:nvSpPr>
        <p:spPr>
          <a:xfrm>
            <a:off x="1078992" y="4361688"/>
            <a:ext cx="2505456" cy="640080"/>
          </a:xfrm>
          <a:prstGeom prst="rect">
            <a:avLst/>
          </a:prstGeom>
          <a:noFill/>
          <a:ln/>
        </p:spPr>
        <p:txBody>
          <a:bodyPr wrap="square" lIns="254" tIns="254" rIns="254" bIns="254" rtlCol="0" anchor="t"/>
          <a:lstStyle/>
          <a:p>
            <a:pPr marL="0" indent="0">
              <a:buNone/>
            </a:pPr>
            <a:r>
              <a:rPr lang="en-US" sz="1220" dirty="0">
                <a:solidFill>
                  <a:srgbClr val="475569"/>
                </a:solidFill>
              </a:rPr>
              <a:t>Temporary name, credits and expected grade.</a:t>
            </a:r>
            <a:endParaRPr lang="en-US" sz="1220" dirty="0"/>
          </a:p>
        </p:txBody>
      </p:sp>
      <p:sp>
        <p:nvSpPr>
          <p:cNvPr id="12" name="Shape 10"/>
          <p:cNvSpPr/>
          <p:nvPr/>
        </p:nvSpPr>
        <p:spPr>
          <a:xfrm>
            <a:off x="4572000" y="2487168"/>
            <a:ext cx="2834640" cy="1600200"/>
          </a:xfrm>
          <a:prstGeom prst="roundRect">
            <a:avLst/>
          </a:prstGeom>
          <a:solidFill>
            <a:srgbClr val="F0FDF4"/>
          </a:solidFill>
          <a:ln w="12700">
            <a:solidFill>
              <a:srgbClr val="16A34A"/>
            </a:solidFill>
            <a:prstDash val="solid"/>
          </a:ln>
        </p:spPr>
        <p:txBody>
          <a:bodyPr/>
          <a:lstStyle/>
          <a:p>
            <a:endParaRPr lang="bg-BG"/>
          </a:p>
        </p:txBody>
      </p:sp>
      <p:sp>
        <p:nvSpPr>
          <p:cNvPr id="13" name="Text 11"/>
          <p:cNvSpPr/>
          <p:nvPr/>
        </p:nvSpPr>
        <p:spPr>
          <a:xfrm>
            <a:off x="4846320" y="2788920"/>
            <a:ext cx="2286000" cy="320040"/>
          </a:xfrm>
          <a:prstGeom prst="rect">
            <a:avLst/>
          </a:prstGeom>
          <a:noFill/>
          <a:ln/>
        </p:spPr>
        <p:txBody>
          <a:bodyPr wrap="square" lIns="0" tIns="0" rIns="0" bIns="0" rtlCol="0" anchor="ctr"/>
          <a:lstStyle/>
          <a:p>
            <a:pPr marL="0" indent="0" algn="ctr">
              <a:buNone/>
            </a:pPr>
            <a:r>
              <a:rPr lang="en-US" sz="1900" b="1" dirty="0">
                <a:solidFill>
                  <a:srgbClr val="102A43"/>
                </a:solidFill>
              </a:rPr>
              <a:t>Projected GPA</a:t>
            </a:r>
            <a:endParaRPr lang="en-US" sz="1900" dirty="0"/>
          </a:p>
        </p:txBody>
      </p:sp>
      <p:sp>
        <p:nvSpPr>
          <p:cNvPr id="14" name="Text 12"/>
          <p:cNvSpPr/>
          <p:nvPr/>
        </p:nvSpPr>
        <p:spPr>
          <a:xfrm>
            <a:off x="4864608" y="3227832"/>
            <a:ext cx="2240280" cy="502920"/>
          </a:xfrm>
          <a:prstGeom prst="rect">
            <a:avLst/>
          </a:prstGeom>
          <a:noFill/>
          <a:ln/>
        </p:spPr>
        <p:txBody>
          <a:bodyPr wrap="square" lIns="0" tIns="0" rIns="0" bIns="0" rtlCol="0" anchor="ctr"/>
          <a:lstStyle/>
          <a:p>
            <a:pPr marL="0" indent="0" algn="ctr">
              <a:buNone/>
            </a:pPr>
            <a:r>
              <a:rPr lang="en-US" sz="1200" dirty="0">
                <a:solidFill>
                  <a:srgbClr val="475569"/>
                </a:solidFill>
              </a:rPr>
              <a:t>Combine quality points + attempted credits</a:t>
            </a:r>
            <a:endParaRPr lang="en-US" sz="1200" dirty="0"/>
          </a:p>
        </p:txBody>
      </p:sp>
      <p:sp>
        <p:nvSpPr>
          <p:cNvPr id="15" name="Shape 13"/>
          <p:cNvSpPr/>
          <p:nvPr/>
        </p:nvSpPr>
        <p:spPr>
          <a:xfrm>
            <a:off x="3749040" y="2331720"/>
            <a:ext cx="749808" cy="667512"/>
          </a:xfrm>
          <a:prstGeom prst="line">
            <a:avLst/>
          </a:prstGeom>
          <a:noFill/>
          <a:ln w="12700">
            <a:solidFill>
              <a:srgbClr val="2563EB"/>
            </a:solidFill>
            <a:prstDash val="solid"/>
            <a:headEnd type="none"/>
            <a:tailEnd type="triangle"/>
          </a:ln>
        </p:spPr>
        <p:txBody>
          <a:bodyPr/>
          <a:lstStyle/>
          <a:p>
            <a:endParaRPr lang="bg-BG"/>
          </a:p>
        </p:txBody>
      </p:sp>
      <p:sp>
        <p:nvSpPr>
          <p:cNvPr id="16" name="Shape 14"/>
          <p:cNvSpPr/>
          <p:nvPr/>
        </p:nvSpPr>
        <p:spPr>
          <a:xfrm>
            <a:off x="3749040" y="4498848"/>
            <a:ext cx="749808" cy="0"/>
          </a:xfrm>
          <a:prstGeom prst="line">
            <a:avLst/>
          </a:prstGeom>
          <a:noFill/>
          <a:ln w="12700">
            <a:solidFill>
              <a:srgbClr val="D97706"/>
            </a:solidFill>
            <a:prstDash val="solid"/>
            <a:headEnd type="none"/>
            <a:tailEnd type="triangle"/>
          </a:ln>
        </p:spPr>
        <p:txBody>
          <a:bodyPr/>
          <a:lstStyle/>
          <a:p>
            <a:endParaRPr lang="bg-BG"/>
          </a:p>
        </p:txBody>
      </p:sp>
      <p:sp>
        <p:nvSpPr>
          <p:cNvPr id="17" name="Shape 15"/>
          <p:cNvSpPr/>
          <p:nvPr/>
        </p:nvSpPr>
        <p:spPr>
          <a:xfrm>
            <a:off x="8321040" y="2423160"/>
            <a:ext cx="2834640" cy="1737360"/>
          </a:xfrm>
          <a:prstGeom prst="roundRect">
            <a:avLst/>
          </a:prstGeom>
          <a:solidFill>
            <a:srgbClr val="FFFFFF"/>
          </a:solidFill>
          <a:ln w="12700">
            <a:solidFill>
              <a:srgbClr val="0F766E"/>
            </a:solidFill>
            <a:prstDash val="solid"/>
          </a:ln>
        </p:spPr>
        <p:txBody>
          <a:bodyPr/>
          <a:lstStyle/>
          <a:p>
            <a:endParaRPr lang="bg-BG"/>
          </a:p>
        </p:txBody>
      </p:sp>
      <p:sp>
        <p:nvSpPr>
          <p:cNvPr id="18" name="Text 16"/>
          <p:cNvSpPr/>
          <p:nvPr/>
        </p:nvSpPr>
        <p:spPr>
          <a:xfrm>
            <a:off x="8613648" y="2724912"/>
            <a:ext cx="2194560" cy="320040"/>
          </a:xfrm>
          <a:prstGeom prst="rect">
            <a:avLst/>
          </a:prstGeom>
          <a:noFill/>
          <a:ln/>
        </p:spPr>
        <p:txBody>
          <a:bodyPr wrap="square" lIns="0" tIns="0" rIns="0" bIns="0" rtlCol="0" anchor="ctr"/>
          <a:lstStyle/>
          <a:p>
            <a:pPr marL="0" indent="0" algn="ctr">
              <a:buNone/>
            </a:pPr>
            <a:r>
              <a:rPr lang="en-US" sz="1600" b="1" dirty="0">
                <a:solidFill>
                  <a:srgbClr val="0F766E"/>
                </a:solidFill>
              </a:rPr>
              <a:t>Key design choice</a:t>
            </a:r>
            <a:endParaRPr lang="en-US" sz="1600" dirty="0"/>
          </a:p>
        </p:txBody>
      </p:sp>
      <p:sp>
        <p:nvSpPr>
          <p:cNvPr id="19" name="Text 17"/>
          <p:cNvSpPr/>
          <p:nvPr/>
        </p:nvSpPr>
        <p:spPr>
          <a:xfrm>
            <a:off x="8631936" y="3172968"/>
            <a:ext cx="2148840" cy="658368"/>
          </a:xfrm>
          <a:prstGeom prst="rect">
            <a:avLst/>
          </a:prstGeom>
          <a:noFill/>
          <a:ln/>
        </p:spPr>
        <p:txBody>
          <a:bodyPr wrap="square" lIns="0" tIns="0" rIns="0" bIns="0" rtlCol="0" anchor="ctr"/>
          <a:lstStyle/>
          <a:p>
            <a:pPr marL="0" indent="0" algn="ctr">
              <a:buNone/>
            </a:pPr>
            <a:r>
              <a:rPr lang="en-US" sz="1220" dirty="0">
                <a:solidFill>
                  <a:srgbClr val="475569"/>
                </a:solidFill>
              </a:rPr>
              <a:t>Hypothetical data stays in memory only. It is never saved to SQLite.</a:t>
            </a:r>
            <a:endParaRPr lang="en-US" sz="1220" dirty="0"/>
          </a:p>
        </p:txBody>
      </p:sp>
      <p:sp>
        <p:nvSpPr>
          <p:cNvPr id="20" name="Shape 18"/>
          <p:cNvSpPr/>
          <p:nvPr/>
        </p:nvSpPr>
        <p:spPr>
          <a:xfrm>
            <a:off x="7479792" y="3273552"/>
            <a:ext cx="749808" cy="0"/>
          </a:xfrm>
          <a:prstGeom prst="line">
            <a:avLst/>
          </a:prstGeom>
          <a:noFill/>
          <a:ln w="12700">
            <a:solidFill>
              <a:srgbClr val="0F766E"/>
            </a:solidFill>
            <a:prstDash val="solid"/>
            <a:headEnd type="none"/>
            <a:tailEnd type="triangle"/>
          </a:ln>
        </p:spPr>
        <p:txBody>
          <a:bodyPr/>
          <a:lstStyle/>
          <a:p>
            <a:endParaRPr lang="bg-BG"/>
          </a:p>
        </p:txBody>
      </p:sp>
      <p:sp>
        <p:nvSpPr>
          <p:cNvPr id="21" name="Text 19"/>
          <p:cNvSpPr/>
          <p:nvPr/>
        </p:nvSpPr>
        <p:spPr>
          <a:xfrm>
            <a:off x="2331720" y="5559552"/>
            <a:ext cx="7543800" cy="411480"/>
          </a:xfrm>
          <a:prstGeom prst="rect">
            <a:avLst/>
          </a:prstGeom>
          <a:noFill/>
          <a:ln/>
        </p:spPr>
        <p:txBody>
          <a:bodyPr wrap="square" lIns="0" tIns="0" rIns="0" bIns="0" rtlCol="0" anchor="ctr"/>
          <a:lstStyle/>
          <a:p>
            <a:pPr marL="0" indent="0" algn="ctr">
              <a:buNone/>
            </a:pPr>
            <a:r>
              <a:rPr lang="en-US" sz="1350" b="1" dirty="0">
                <a:solidFill>
                  <a:srgbClr val="D97706"/>
                </a:solidFill>
              </a:rPr>
              <a:t>Useful engineering feature — but still based on weighted-average calculation.</a:t>
            </a:r>
            <a:endParaRPr lang="en-US" sz="1350" dirty="0"/>
          </a:p>
        </p:txBody>
      </p:sp>
      <p:sp>
        <p:nvSpPr>
          <p:cNvPr id="25"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6. Target GPA Solver</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The inverse problem: the target is known, but the future grades are unknown</a:t>
            </a:r>
            <a:endParaRPr lang="en-US" sz="1250" dirty="0"/>
          </a:p>
        </p:txBody>
      </p:sp>
      <p:sp>
        <p:nvSpPr>
          <p:cNvPr id="4" name="Shape 2"/>
          <p:cNvSpPr/>
          <p:nvPr/>
        </p:nvSpPr>
        <p:spPr>
          <a:xfrm>
            <a:off x="777240" y="1508760"/>
            <a:ext cx="2788920" cy="1143000"/>
          </a:xfrm>
          <a:prstGeom prst="roundRect">
            <a:avLst>
              <a:gd name="adj" fmla="val 5600"/>
            </a:avLst>
          </a:prstGeom>
          <a:solidFill>
            <a:srgbClr val="EFF6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5" name="Shape 3"/>
          <p:cNvSpPr/>
          <p:nvPr/>
        </p:nvSpPr>
        <p:spPr>
          <a:xfrm>
            <a:off x="777240" y="1508760"/>
            <a:ext cx="73152" cy="1143000"/>
          </a:xfrm>
          <a:prstGeom prst="rect">
            <a:avLst/>
          </a:prstGeom>
          <a:solidFill>
            <a:srgbClr val="2563EB"/>
          </a:solidFill>
          <a:ln w="12700">
            <a:solidFill>
              <a:srgbClr val="2563EB"/>
            </a:solidFill>
            <a:prstDash val="solid"/>
          </a:ln>
        </p:spPr>
        <p:txBody>
          <a:bodyPr/>
          <a:lstStyle/>
          <a:p>
            <a:endParaRPr lang="bg-BG"/>
          </a:p>
        </p:txBody>
      </p:sp>
      <p:sp>
        <p:nvSpPr>
          <p:cNvPr id="6" name="Text 4"/>
          <p:cNvSpPr/>
          <p:nvPr/>
        </p:nvSpPr>
        <p:spPr>
          <a:xfrm>
            <a:off x="987552" y="1673352"/>
            <a:ext cx="2468880" cy="320040"/>
          </a:xfrm>
          <a:prstGeom prst="rect">
            <a:avLst/>
          </a:prstGeom>
          <a:noFill/>
          <a:ln/>
        </p:spPr>
        <p:txBody>
          <a:bodyPr wrap="square" lIns="0" tIns="0" rIns="0" bIns="0" rtlCol="0" anchor="ctr"/>
          <a:lstStyle/>
          <a:p>
            <a:pPr marL="0" indent="0">
              <a:buNone/>
            </a:pPr>
            <a:r>
              <a:rPr lang="en-US" sz="1450" b="1" dirty="0">
                <a:solidFill>
                  <a:srgbClr val="102A43"/>
                </a:solidFill>
              </a:rPr>
              <a:t>Current record</a:t>
            </a:r>
            <a:endParaRPr lang="en-US" sz="1450" dirty="0"/>
          </a:p>
        </p:txBody>
      </p:sp>
      <p:sp>
        <p:nvSpPr>
          <p:cNvPr id="7" name="Text 5"/>
          <p:cNvSpPr/>
          <p:nvPr/>
        </p:nvSpPr>
        <p:spPr>
          <a:xfrm>
            <a:off x="987552" y="2075688"/>
            <a:ext cx="2459736" cy="411480"/>
          </a:xfrm>
          <a:prstGeom prst="rect">
            <a:avLst/>
          </a:prstGeom>
          <a:noFill/>
          <a:ln/>
        </p:spPr>
        <p:txBody>
          <a:bodyPr wrap="square" lIns="254" tIns="254" rIns="254" bIns="254" rtlCol="0" anchor="t"/>
          <a:lstStyle/>
          <a:p>
            <a:pPr marL="0" indent="0">
              <a:buNone/>
            </a:pPr>
            <a:r>
              <a:rPr lang="en-US" sz="1180" dirty="0">
                <a:solidFill>
                  <a:srgbClr val="475569"/>
                </a:solidFill>
              </a:rPr>
              <a:t>Existing quality points and attempted credits</a:t>
            </a:r>
            <a:endParaRPr lang="en-US" sz="1180" dirty="0"/>
          </a:p>
        </p:txBody>
      </p:sp>
      <p:sp>
        <p:nvSpPr>
          <p:cNvPr id="8" name="Shape 6"/>
          <p:cNvSpPr/>
          <p:nvPr/>
        </p:nvSpPr>
        <p:spPr>
          <a:xfrm>
            <a:off x="777240" y="2971800"/>
            <a:ext cx="2788920" cy="1143000"/>
          </a:xfrm>
          <a:prstGeom prst="roundRect">
            <a:avLst>
              <a:gd name="adj" fmla="val 5600"/>
            </a:avLst>
          </a:prstGeom>
          <a:solidFill>
            <a:srgbClr val="F0FDF4"/>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9" name="Shape 7"/>
          <p:cNvSpPr/>
          <p:nvPr/>
        </p:nvSpPr>
        <p:spPr>
          <a:xfrm>
            <a:off x="777240" y="2971800"/>
            <a:ext cx="73152" cy="1143000"/>
          </a:xfrm>
          <a:prstGeom prst="rect">
            <a:avLst/>
          </a:prstGeom>
          <a:solidFill>
            <a:srgbClr val="16A34A"/>
          </a:solidFill>
          <a:ln w="12700">
            <a:solidFill>
              <a:srgbClr val="16A34A"/>
            </a:solidFill>
            <a:prstDash val="solid"/>
          </a:ln>
        </p:spPr>
        <p:txBody>
          <a:bodyPr/>
          <a:lstStyle/>
          <a:p>
            <a:endParaRPr lang="bg-BG"/>
          </a:p>
        </p:txBody>
      </p:sp>
      <p:sp>
        <p:nvSpPr>
          <p:cNvPr id="10" name="Text 8"/>
          <p:cNvSpPr/>
          <p:nvPr/>
        </p:nvSpPr>
        <p:spPr>
          <a:xfrm>
            <a:off x="987552" y="3136392"/>
            <a:ext cx="2468880" cy="320040"/>
          </a:xfrm>
          <a:prstGeom prst="rect">
            <a:avLst/>
          </a:prstGeom>
          <a:noFill/>
          <a:ln/>
        </p:spPr>
        <p:txBody>
          <a:bodyPr wrap="square" lIns="0" tIns="0" rIns="0" bIns="0" rtlCol="0" anchor="ctr"/>
          <a:lstStyle/>
          <a:p>
            <a:pPr marL="0" indent="0">
              <a:buNone/>
            </a:pPr>
            <a:r>
              <a:rPr lang="en-US" sz="1450" b="1" dirty="0">
                <a:solidFill>
                  <a:srgbClr val="102A43"/>
                </a:solidFill>
              </a:rPr>
              <a:t>Target GPA</a:t>
            </a:r>
            <a:endParaRPr lang="en-US" sz="1450" dirty="0"/>
          </a:p>
        </p:txBody>
      </p:sp>
      <p:sp>
        <p:nvSpPr>
          <p:cNvPr id="11" name="Text 9"/>
          <p:cNvSpPr/>
          <p:nvPr/>
        </p:nvSpPr>
        <p:spPr>
          <a:xfrm>
            <a:off x="987552" y="3538728"/>
            <a:ext cx="2459736" cy="411480"/>
          </a:xfrm>
          <a:prstGeom prst="rect">
            <a:avLst/>
          </a:prstGeom>
          <a:noFill/>
          <a:ln/>
        </p:spPr>
        <p:txBody>
          <a:bodyPr wrap="square" lIns="254" tIns="254" rIns="254" bIns="254" rtlCol="0" anchor="t"/>
          <a:lstStyle/>
          <a:p>
            <a:pPr marL="0" indent="0">
              <a:buNone/>
            </a:pPr>
            <a:r>
              <a:rPr lang="en-US" sz="1180" dirty="0">
                <a:solidFill>
                  <a:srgbClr val="475569"/>
                </a:solidFill>
              </a:rPr>
              <a:t>Example: 3.20 cumulative GPA</a:t>
            </a:r>
            <a:endParaRPr lang="en-US" sz="1180" dirty="0"/>
          </a:p>
        </p:txBody>
      </p:sp>
      <p:sp>
        <p:nvSpPr>
          <p:cNvPr id="12" name="Shape 10"/>
          <p:cNvSpPr/>
          <p:nvPr/>
        </p:nvSpPr>
        <p:spPr>
          <a:xfrm>
            <a:off x="777240" y="4434840"/>
            <a:ext cx="2788920" cy="1143000"/>
          </a:xfrm>
          <a:prstGeom prst="roundRect">
            <a:avLst>
              <a:gd name="adj" fmla="val 5600"/>
            </a:avLst>
          </a:prstGeom>
          <a:solidFill>
            <a:srgbClr val="FFF7ED"/>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13" name="Shape 11"/>
          <p:cNvSpPr/>
          <p:nvPr/>
        </p:nvSpPr>
        <p:spPr>
          <a:xfrm>
            <a:off x="777240" y="4434840"/>
            <a:ext cx="73152" cy="1143000"/>
          </a:xfrm>
          <a:prstGeom prst="rect">
            <a:avLst/>
          </a:prstGeom>
          <a:solidFill>
            <a:srgbClr val="D97706"/>
          </a:solidFill>
          <a:ln w="12700">
            <a:solidFill>
              <a:srgbClr val="D97706"/>
            </a:solidFill>
            <a:prstDash val="solid"/>
          </a:ln>
        </p:spPr>
        <p:txBody>
          <a:bodyPr/>
          <a:lstStyle/>
          <a:p>
            <a:endParaRPr lang="bg-BG"/>
          </a:p>
        </p:txBody>
      </p:sp>
      <p:sp>
        <p:nvSpPr>
          <p:cNvPr id="14" name="Text 12"/>
          <p:cNvSpPr/>
          <p:nvPr/>
        </p:nvSpPr>
        <p:spPr>
          <a:xfrm>
            <a:off x="987552" y="4599432"/>
            <a:ext cx="2468880" cy="320040"/>
          </a:xfrm>
          <a:prstGeom prst="rect">
            <a:avLst/>
          </a:prstGeom>
          <a:noFill/>
          <a:ln/>
        </p:spPr>
        <p:txBody>
          <a:bodyPr wrap="square" lIns="0" tIns="0" rIns="0" bIns="0" rtlCol="0" anchor="ctr"/>
          <a:lstStyle/>
          <a:p>
            <a:pPr marL="0" indent="0">
              <a:buNone/>
            </a:pPr>
            <a:r>
              <a:rPr lang="en-US" sz="1450" b="1" dirty="0">
                <a:solidFill>
                  <a:srgbClr val="102A43"/>
                </a:solidFill>
              </a:rPr>
              <a:t>Remaining courses</a:t>
            </a:r>
            <a:endParaRPr lang="en-US" sz="1450" dirty="0"/>
          </a:p>
        </p:txBody>
      </p:sp>
      <p:sp>
        <p:nvSpPr>
          <p:cNvPr id="15" name="Text 13"/>
          <p:cNvSpPr/>
          <p:nvPr/>
        </p:nvSpPr>
        <p:spPr>
          <a:xfrm>
            <a:off x="987552" y="5001768"/>
            <a:ext cx="2459736" cy="411480"/>
          </a:xfrm>
          <a:prstGeom prst="rect">
            <a:avLst/>
          </a:prstGeom>
          <a:noFill/>
          <a:ln/>
        </p:spPr>
        <p:txBody>
          <a:bodyPr wrap="square" lIns="254" tIns="254" rIns="254" bIns="254" rtlCol="0" anchor="t"/>
          <a:lstStyle/>
          <a:p>
            <a:pPr marL="0" indent="0">
              <a:buNone/>
            </a:pPr>
            <a:r>
              <a:rPr lang="en-US" sz="1180" dirty="0">
                <a:solidFill>
                  <a:srgbClr val="475569"/>
                </a:solidFill>
              </a:rPr>
              <a:t>Course names and credit values — no grades entered</a:t>
            </a:r>
            <a:endParaRPr lang="en-US" sz="1180" dirty="0"/>
          </a:p>
        </p:txBody>
      </p:sp>
      <p:sp>
        <p:nvSpPr>
          <p:cNvPr id="16" name="Shape 14"/>
          <p:cNvSpPr/>
          <p:nvPr/>
        </p:nvSpPr>
        <p:spPr>
          <a:xfrm>
            <a:off x="4069080" y="2834640"/>
            <a:ext cx="1188720" cy="1234440"/>
          </a:xfrm>
          <a:prstGeom prst="chevron">
            <a:avLst/>
          </a:prstGeom>
          <a:solidFill>
            <a:srgbClr val="DDEAEF"/>
          </a:solidFill>
          <a:ln w="12700">
            <a:solidFill>
              <a:srgbClr val="DDEAEF"/>
            </a:solidFill>
            <a:prstDash val="solid"/>
          </a:ln>
        </p:spPr>
        <p:txBody>
          <a:bodyPr/>
          <a:lstStyle/>
          <a:p>
            <a:endParaRPr lang="bg-BG"/>
          </a:p>
        </p:txBody>
      </p:sp>
      <p:sp>
        <p:nvSpPr>
          <p:cNvPr id="17" name="Shape 15"/>
          <p:cNvSpPr/>
          <p:nvPr/>
        </p:nvSpPr>
        <p:spPr>
          <a:xfrm>
            <a:off x="5486400" y="1965960"/>
            <a:ext cx="2880360" cy="2743200"/>
          </a:xfrm>
          <a:prstGeom prst="roundRect">
            <a:avLst/>
          </a:prstGeom>
          <a:solidFill>
            <a:srgbClr val="F4F1FF"/>
          </a:solidFill>
          <a:ln w="12700">
            <a:solidFill>
              <a:srgbClr val="7C3AED"/>
            </a:solidFill>
            <a:prstDash val="solid"/>
          </a:ln>
        </p:spPr>
        <p:txBody>
          <a:bodyPr/>
          <a:lstStyle/>
          <a:p>
            <a:endParaRPr lang="bg-BG"/>
          </a:p>
        </p:txBody>
      </p:sp>
      <p:sp>
        <p:nvSpPr>
          <p:cNvPr id="18" name="Text 16"/>
          <p:cNvSpPr/>
          <p:nvPr/>
        </p:nvSpPr>
        <p:spPr>
          <a:xfrm>
            <a:off x="5806440" y="2331720"/>
            <a:ext cx="2240280" cy="365760"/>
          </a:xfrm>
          <a:prstGeom prst="rect">
            <a:avLst/>
          </a:prstGeom>
          <a:noFill/>
          <a:ln/>
        </p:spPr>
        <p:txBody>
          <a:bodyPr wrap="square" lIns="0" tIns="0" rIns="0" bIns="0" rtlCol="0" anchor="ctr"/>
          <a:lstStyle/>
          <a:p>
            <a:pPr marL="0" indent="0" algn="ctr">
              <a:buNone/>
            </a:pPr>
            <a:r>
              <a:rPr lang="en-US" sz="1900" b="1" dirty="0">
                <a:solidFill>
                  <a:srgbClr val="5B21B6"/>
                </a:solidFill>
              </a:rPr>
              <a:t>TargetGpaSolver</a:t>
            </a:r>
            <a:endParaRPr lang="en-US" sz="1900" dirty="0"/>
          </a:p>
        </p:txBody>
      </p:sp>
      <p:sp>
        <p:nvSpPr>
          <p:cNvPr id="19" name="Text 17"/>
          <p:cNvSpPr/>
          <p:nvPr/>
        </p:nvSpPr>
        <p:spPr>
          <a:xfrm>
            <a:off x="5852160" y="2926080"/>
            <a:ext cx="2148840" cy="868680"/>
          </a:xfrm>
          <a:prstGeom prst="rect">
            <a:avLst/>
          </a:prstGeom>
          <a:noFill/>
          <a:ln/>
        </p:spPr>
        <p:txBody>
          <a:bodyPr wrap="square" lIns="0" tIns="0" rIns="0" bIns="0" rtlCol="0" anchor="ctr"/>
          <a:lstStyle/>
          <a:p>
            <a:pPr marL="0" indent="0" algn="ctr">
              <a:buNone/>
            </a:pPr>
            <a:r>
              <a:rPr lang="en-US" sz="1320" dirty="0">
                <a:solidFill>
                  <a:srgbClr val="475569"/>
                </a:solidFill>
              </a:rPr>
              <a:t>Searches grade combinations</a:t>
            </a:r>
            <a:endParaRPr lang="en-US" sz="1320" dirty="0"/>
          </a:p>
          <a:p>
            <a:pPr marL="0" indent="0" algn="ctr">
              <a:buNone/>
            </a:pPr>
            <a:r>
              <a:rPr lang="en-US" sz="1320" dirty="0">
                <a:solidFill>
                  <a:srgbClr val="475569"/>
                </a:solidFill>
              </a:rPr>
              <a:t>and returns the easiest feasible solution</a:t>
            </a:r>
            <a:endParaRPr lang="en-US" sz="1320" dirty="0"/>
          </a:p>
        </p:txBody>
      </p:sp>
      <p:sp>
        <p:nvSpPr>
          <p:cNvPr id="20" name="Shape 18"/>
          <p:cNvSpPr/>
          <p:nvPr/>
        </p:nvSpPr>
        <p:spPr>
          <a:xfrm>
            <a:off x="8668512" y="2834640"/>
            <a:ext cx="1188720" cy="1234440"/>
          </a:xfrm>
          <a:prstGeom prst="chevron">
            <a:avLst/>
          </a:prstGeom>
          <a:solidFill>
            <a:srgbClr val="DDEAEF"/>
          </a:solidFill>
          <a:ln w="12700">
            <a:solidFill>
              <a:srgbClr val="DDEAEF"/>
            </a:solidFill>
            <a:prstDash val="solid"/>
          </a:ln>
        </p:spPr>
        <p:txBody>
          <a:bodyPr/>
          <a:lstStyle/>
          <a:p>
            <a:endParaRPr lang="bg-BG"/>
          </a:p>
        </p:txBody>
      </p:sp>
      <p:sp>
        <p:nvSpPr>
          <p:cNvPr id="21" name="Shape 19"/>
          <p:cNvSpPr/>
          <p:nvPr/>
        </p:nvSpPr>
        <p:spPr>
          <a:xfrm>
            <a:off x="9692640" y="2423160"/>
            <a:ext cx="1828800" cy="1874520"/>
          </a:xfrm>
          <a:prstGeom prst="roundRect">
            <a:avLst>
              <a:gd name="adj" fmla="val 350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2" name="Shape 20"/>
          <p:cNvSpPr/>
          <p:nvPr/>
        </p:nvSpPr>
        <p:spPr>
          <a:xfrm>
            <a:off x="9692640" y="2423160"/>
            <a:ext cx="73152" cy="1874520"/>
          </a:xfrm>
          <a:prstGeom prst="rect">
            <a:avLst/>
          </a:prstGeom>
          <a:solidFill>
            <a:srgbClr val="0F766E"/>
          </a:solidFill>
          <a:ln w="12700">
            <a:solidFill>
              <a:srgbClr val="0F766E"/>
            </a:solidFill>
            <a:prstDash val="solid"/>
          </a:ln>
        </p:spPr>
        <p:txBody>
          <a:bodyPr/>
          <a:lstStyle/>
          <a:p>
            <a:endParaRPr lang="bg-BG"/>
          </a:p>
        </p:txBody>
      </p:sp>
      <p:sp>
        <p:nvSpPr>
          <p:cNvPr id="23" name="Text 21"/>
          <p:cNvSpPr/>
          <p:nvPr/>
        </p:nvSpPr>
        <p:spPr>
          <a:xfrm>
            <a:off x="9902952" y="2587752"/>
            <a:ext cx="1508760" cy="320040"/>
          </a:xfrm>
          <a:prstGeom prst="rect">
            <a:avLst/>
          </a:prstGeom>
          <a:noFill/>
          <a:ln/>
        </p:spPr>
        <p:txBody>
          <a:bodyPr wrap="square" lIns="0" tIns="0" rIns="0" bIns="0" rtlCol="0" anchor="ctr"/>
          <a:lstStyle/>
          <a:p>
            <a:pPr marL="0" indent="0">
              <a:buNone/>
            </a:pPr>
            <a:r>
              <a:rPr lang="en-US" sz="1500" b="1" dirty="0">
                <a:solidFill>
                  <a:srgbClr val="102A43"/>
                </a:solidFill>
              </a:rPr>
              <a:t>Output</a:t>
            </a:r>
            <a:endParaRPr lang="en-US" sz="1500" dirty="0"/>
          </a:p>
        </p:txBody>
      </p:sp>
      <p:sp>
        <p:nvSpPr>
          <p:cNvPr id="24" name="Text 22"/>
          <p:cNvSpPr/>
          <p:nvPr/>
        </p:nvSpPr>
        <p:spPr>
          <a:xfrm>
            <a:off x="9902952" y="2990088"/>
            <a:ext cx="1499616" cy="1143000"/>
          </a:xfrm>
          <a:prstGeom prst="rect">
            <a:avLst/>
          </a:prstGeom>
          <a:noFill/>
          <a:ln/>
        </p:spPr>
        <p:txBody>
          <a:bodyPr wrap="square" lIns="254" tIns="254" rIns="254" bIns="254" rtlCol="0" anchor="t"/>
          <a:lstStyle/>
          <a:p>
            <a:pPr marL="0" indent="0">
              <a:buNone/>
            </a:pPr>
            <a:r>
              <a:rPr lang="en-US" sz="1220" dirty="0">
                <a:solidFill>
                  <a:srgbClr val="475569"/>
                </a:solidFill>
              </a:rPr>
              <a:t>Recommended grade for each course</a:t>
            </a:r>
            <a:endParaRPr lang="en-US" sz="1220" dirty="0"/>
          </a:p>
          <a:p>
            <a:pPr marL="0" indent="0">
              <a:buNone/>
            </a:pPr>
            <a:r>
              <a:rPr lang="en-US" sz="1220" dirty="0">
                <a:solidFill>
                  <a:srgbClr val="475569"/>
                </a:solidFill>
              </a:rPr>
              <a:t>+</a:t>
            </a:r>
            <a:endParaRPr lang="en-US" sz="1220" dirty="0"/>
          </a:p>
          <a:p>
            <a:pPr marL="0" indent="0">
              <a:buNone/>
            </a:pPr>
            <a:r>
              <a:rPr lang="en-US" sz="1220" dirty="0">
                <a:solidFill>
                  <a:srgbClr val="475569"/>
                </a:solidFill>
              </a:rPr>
              <a:t>Projected final GPA</a:t>
            </a:r>
            <a:endParaRPr lang="en-US" sz="1220" dirty="0"/>
          </a:p>
        </p:txBody>
      </p:sp>
      <p:sp>
        <p:nvSpPr>
          <p:cNvPr id="25" name="Text 23"/>
          <p:cNvSpPr/>
          <p:nvPr/>
        </p:nvSpPr>
        <p:spPr>
          <a:xfrm>
            <a:off x="2971800" y="5687568"/>
            <a:ext cx="6583680" cy="320040"/>
          </a:xfrm>
          <a:prstGeom prst="rect">
            <a:avLst/>
          </a:prstGeom>
          <a:noFill/>
          <a:ln/>
        </p:spPr>
        <p:txBody>
          <a:bodyPr wrap="square" lIns="0" tIns="0" rIns="0" bIns="0" rtlCol="0" anchor="ctr"/>
          <a:lstStyle/>
          <a:p>
            <a:pPr marL="0" indent="0" algn="ctr">
              <a:buNone/>
            </a:pPr>
            <a:r>
              <a:rPr lang="en-US" sz="1400" b="1" dirty="0">
                <a:solidFill>
                  <a:srgbClr val="0F766E"/>
                </a:solidFill>
              </a:rPr>
              <a:t>This is a combinatorial search problem — not a single formula.</a:t>
            </a:r>
            <a:endParaRPr lang="en-US" sz="1400" dirty="0"/>
          </a:p>
        </p:txBody>
      </p:sp>
      <p:sp>
        <p:nvSpPr>
          <p:cNvPr id="26"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7. Algorithm 1 — Backtracking Search + Pruning</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Recursive search explores grade combinations; pruning cuts branches that cannot help</a:t>
            </a:r>
            <a:endParaRPr lang="en-US" sz="1250" dirty="0"/>
          </a:p>
        </p:txBody>
      </p:sp>
      <p:sp>
        <p:nvSpPr>
          <p:cNvPr id="4" name="Text 2"/>
          <p:cNvSpPr/>
          <p:nvPr/>
        </p:nvSpPr>
        <p:spPr>
          <a:xfrm>
            <a:off x="1097280" y="1417320"/>
            <a:ext cx="1097280" cy="274320"/>
          </a:xfrm>
          <a:prstGeom prst="rect">
            <a:avLst/>
          </a:prstGeom>
          <a:noFill/>
          <a:ln/>
        </p:spPr>
        <p:txBody>
          <a:bodyPr wrap="square" lIns="0" tIns="0" rIns="0" bIns="0" rtlCol="0" anchor="ctr"/>
          <a:lstStyle/>
          <a:p>
            <a:pPr marL="0" indent="0" algn="ctr">
              <a:buNone/>
            </a:pPr>
            <a:r>
              <a:rPr lang="en-US" sz="1500" b="1" dirty="0">
                <a:solidFill>
                  <a:srgbClr val="102A43"/>
                </a:solidFill>
              </a:rPr>
              <a:t>Course 1</a:t>
            </a:r>
            <a:endParaRPr lang="en-US" sz="1500" dirty="0"/>
          </a:p>
        </p:txBody>
      </p:sp>
      <p:sp>
        <p:nvSpPr>
          <p:cNvPr id="5" name="Shape 3"/>
          <p:cNvSpPr/>
          <p:nvPr/>
        </p:nvSpPr>
        <p:spPr>
          <a:xfrm>
            <a:off x="1481328" y="1828800"/>
            <a:ext cx="320040" cy="320040"/>
          </a:xfrm>
          <a:prstGeom prst="ellipse">
            <a:avLst/>
          </a:prstGeom>
          <a:solidFill>
            <a:srgbClr val="2563EB"/>
          </a:solidFill>
          <a:ln w="12700">
            <a:solidFill>
              <a:srgbClr val="2563EB"/>
            </a:solidFill>
            <a:prstDash val="solid"/>
          </a:ln>
        </p:spPr>
        <p:txBody>
          <a:bodyPr/>
          <a:lstStyle/>
          <a:p>
            <a:endParaRPr lang="bg-BG"/>
          </a:p>
        </p:txBody>
      </p:sp>
      <p:sp>
        <p:nvSpPr>
          <p:cNvPr id="6" name="Shape 4"/>
          <p:cNvSpPr/>
          <p:nvPr/>
        </p:nvSpPr>
        <p:spPr>
          <a:xfrm>
            <a:off x="1636776" y="2139696"/>
            <a:ext cx="0" cy="603504"/>
          </a:xfrm>
          <a:prstGeom prst="line">
            <a:avLst/>
          </a:prstGeom>
          <a:noFill/>
          <a:ln w="12700">
            <a:solidFill>
              <a:srgbClr val="9DB3C2"/>
            </a:solidFill>
            <a:prstDash val="solid"/>
            <a:headEnd type="none"/>
            <a:tailEnd type="triangle"/>
          </a:ln>
        </p:spPr>
        <p:txBody>
          <a:bodyPr/>
          <a:lstStyle/>
          <a:p>
            <a:endParaRPr lang="bg-BG"/>
          </a:p>
        </p:txBody>
      </p:sp>
      <p:sp>
        <p:nvSpPr>
          <p:cNvPr id="7" name="Shape 5"/>
          <p:cNvSpPr/>
          <p:nvPr/>
        </p:nvSpPr>
        <p:spPr>
          <a:xfrm>
            <a:off x="685800" y="2743200"/>
            <a:ext cx="329184" cy="329184"/>
          </a:xfrm>
          <a:prstGeom prst="ellipse">
            <a:avLst/>
          </a:prstGeom>
          <a:solidFill>
            <a:srgbClr val="16A34A"/>
          </a:solidFill>
          <a:ln w="12700">
            <a:solidFill>
              <a:srgbClr val="16A34A"/>
            </a:solidFill>
            <a:prstDash val="solid"/>
          </a:ln>
        </p:spPr>
        <p:txBody>
          <a:bodyPr/>
          <a:lstStyle/>
          <a:p>
            <a:endParaRPr lang="bg-BG"/>
          </a:p>
        </p:txBody>
      </p:sp>
      <p:sp>
        <p:nvSpPr>
          <p:cNvPr id="8" name="Text 6"/>
          <p:cNvSpPr/>
          <p:nvPr/>
        </p:nvSpPr>
        <p:spPr>
          <a:xfrm>
            <a:off x="521208" y="3154680"/>
            <a:ext cx="658368" cy="228600"/>
          </a:xfrm>
          <a:prstGeom prst="rect">
            <a:avLst/>
          </a:prstGeom>
          <a:noFill/>
          <a:ln/>
        </p:spPr>
        <p:txBody>
          <a:bodyPr wrap="square" lIns="0" tIns="0" rIns="0" bIns="0" rtlCol="0" anchor="ctr"/>
          <a:lstStyle/>
          <a:p>
            <a:pPr marL="0" indent="0" algn="ctr">
              <a:buNone/>
            </a:pPr>
            <a:r>
              <a:rPr lang="en-US" sz="1150" b="1" dirty="0">
                <a:solidFill>
                  <a:srgbClr val="475569"/>
                </a:solidFill>
              </a:rPr>
              <a:t>A</a:t>
            </a:r>
            <a:endParaRPr lang="en-US" sz="1150" dirty="0"/>
          </a:p>
        </p:txBody>
      </p:sp>
      <p:sp>
        <p:nvSpPr>
          <p:cNvPr id="9" name="Shape 7"/>
          <p:cNvSpPr/>
          <p:nvPr/>
        </p:nvSpPr>
        <p:spPr>
          <a:xfrm>
            <a:off x="1636776" y="2139696"/>
            <a:ext cx="36576" cy="603504"/>
          </a:xfrm>
          <a:prstGeom prst="line">
            <a:avLst/>
          </a:prstGeom>
          <a:noFill/>
          <a:ln w="12700">
            <a:solidFill>
              <a:srgbClr val="9DB3C2"/>
            </a:solidFill>
            <a:prstDash val="solid"/>
            <a:headEnd type="none"/>
            <a:tailEnd type="triangle"/>
          </a:ln>
        </p:spPr>
        <p:txBody>
          <a:bodyPr/>
          <a:lstStyle/>
          <a:p>
            <a:endParaRPr lang="bg-BG"/>
          </a:p>
        </p:txBody>
      </p:sp>
      <p:sp>
        <p:nvSpPr>
          <p:cNvPr id="10" name="Shape 8"/>
          <p:cNvSpPr/>
          <p:nvPr/>
        </p:nvSpPr>
        <p:spPr>
          <a:xfrm>
            <a:off x="1508760" y="2743200"/>
            <a:ext cx="329184" cy="329184"/>
          </a:xfrm>
          <a:prstGeom prst="ellipse">
            <a:avLst/>
          </a:prstGeom>
          <a:solidFill>
            <a:srgbClr val="0F766E"/>
          </a:solidFill>
          <a:ln w="12700">
            <a:solidFill>
              <a:srgbClr val="0F766E"/>
            </a:solidFill>
            <a:prstDash val="solid"/>
          </a:ln>
        </p:spPr>
        <p:txBody>
          <a:bodyPr/>
          <a:lstStyle/>
          <a:p>
            <a:endParaRPr lang="bg-BG"/>
          </a:p>
        </p:txBody>
      </p:sp>
      <p:sp>
        <p:nvSpPr>
          <p:cNvPr id="11" name="Text 9"/>
          <p:cNvSpPr/>
          <p:nvPr/>
        </p:nvSpPr>
        <p:spPr>
          <a:xfrm>
            <a:off x="1344168" y="3154680"/>
            <a:ext cx="658368" cy="228600"/>
          </a:xfrm>
          <a:prstGeom prst="rect">
            <a:avLst/>
          </a:prstGeom>
          <a:noFill/>
          <a:ln/>
        </p:spPr>
        <p:txBody>
          <a:bodyPr wrap="square" lIns="0" tIns="0" rIns="0" bIns="0" rtlCol="0" anchor="ctr"/>
          <a:lstStyle/>
          <a:p>
            <a:pPr marL="0" indent="0" algn="ctr">
              <a:buNone/>
            </a:pPr>
            <a:r>
              <a:rPr lang="en-US" sz="1150" b="1" dirty="0">
                <a:solidFill>
                  <a:srgbClr val="475569"/>
                </a:solidFill>
              </a:rPr>
              <a:t>B+</a:t>
            </a:r>
            <a:endParaRPr lang="en-US" sz="1150" dirty="0"/>
          </a:p>
        </p:txBody>
      </p:sp>
      <p:sp>
        <p:nvSpPr>
          <p:cNvPr id="12" name="Shape 10"/>
          <p:cNvSpPr/>
          <p:nvPr/>
        </p:nvSpPr>
        <p:spPr>
          <a:xfrm>
            <a:off x="1636776" y="2139696"/>
            <a:ext cx="859536" cy="603504"/>
          </a:xfrm>
          <a:prstGeom prst="line">
            <a:avLst/>
          </a:prstGeom>
          <a:noFill/>
          <a:ln w="12700">
            <a:solidFill>
              <a:srgbClr val="9DB3C2"/>
            </a:solidFill>
            <a:prstDash val="solid"/>
            <a:headEnd type="none"/>
            <a:tailEnd type="triangle"/>
          </a:ln>
        </p:spPr>
        <p:txBody>
          <a:bodyPr/>
          <a:lstStyle/>
          <a:p>
            <a:endParaRPr lang="bg-BG"/>
          </a:p>
        </p:txBody>
      </p:sp>
      <p:sp>
        <p:nvSpPr>
          <p:cNvPr id="13" name="Shape 11"/>
          <p:cNvSpPr/>
          <p:nvPr/>
        </p:nvSpPr>
        <p:spPr>
          <a:xfrm>
            <a:off x="2331720" y="2743200"/>
            <a:ext cx="329184" cy="329184"/>
          </a:xfrm>
          <a:prstGeom prst="ellipse">
            <a:avLst/>
          </a:prstGeom>
          <a:solidFill>
            <a:srgbClr val="D97706"/>
          </a:solidFill>
          <a:ln w="12700">
            <a:solidFill>
              <a:srgbClr val="D97706"/>
            </a:solidFill>
            <a:prstDash val="solid"/>
          </a:ln>
        </p:spPr>
        <p:txBody>
          <a:bodyPr/>
          <a:lstStyle/>
          <a:p>
            <a:endParaRPr lang="bg-BG"/>
          </a:p>
        </p:txBody>
      </p:sp>
      <p:sp>
        <p:nvSpPr>
          <p:cNvPr id="14" name="Text 12"/>
          <p:cNvSpPr/>
          <p:nvPr/>
        </p:nvSpPr>
        <p:spPr>
          <a:xfrm>
            <a:off x="2167128" y="3154680"/>
            <a:ext cx="658368" cy="228600"/>
          </a:xfrm>
          <a:prstGeom prst="rect">
            <a:avLst/>
          </a:prstGeom>
          <a:noFill/>
          <a:ln/>
        </p:spPr>
        <p:txBody>
          <a:bodyPr wrap="square" lIns="0" tIns="0" rIns="0" bIns="0" rtlCol="0" anchor="ctr"/>
          <a:lstStyle/>
          <a:p>
            <a:pPr marL="0" indent="0" algn="ctr">
              <a:buNone/>
            </a:pPr>
            <a:r>
              <a:rPr lang="en-US" sz="1150" b="1" dirty="0">
                <a:solidFill>
                  <a:srgbClr val="475569"/>
                </a:solidFill>
              </a:rPr>
              <a:t>B</a:t>
            </a:r>
            <a:endParaRPr lang="en-US" sz="1150" dirty="0"/>
          </a:p>
        </p:txBody>
      </p:sp>
      <p:sp>
        <p:nvSpPr>
          <p:cNvPr id="15" name="Shape 13"/>
          <p:cNvSpPr/>
          <p:nvPr/>
        </p:nvSpPr>
        <p:spPr>
          <a:xfrm>
            <a:off x="1673352" y="3072384"/>
            <a:ext cx="0" cy="950976"/>
          </a:xfrm>
          <a:prstGeom prst="line">
            <a:avLst/>
          </a:prstGeom>
          <a:noFill/>
          <a:ln w="12700">
            <a:solidFill>
              <a:srgbClr val="9DB3C2"/>
            </a:solidFill>
            <a:prstDash val="solid"/>
            <a:headEnd type="none"/>
            <a:tailEnd type="triangle"/>
          </a:ln>
        </p:spPr>
        <p:txBody>
          <a:bodyPr/>
          <a:lstStyle/>
          <a:p>
            <a:endParaRPr lang="bg-BG"/>
          </a:p>
        </p:txBody>
      </p:sp>
      <p:sp>
        <p:nvSpPr>
          <p:cNvPr id="16" name="Shape 14"/>
          <p:cNvSpPr/>
          <p:nvPr/>
        </p:nvSpPr>
        <p:spPr>
          <a:xfrm>
            <a:off x="1673352" y="3072384"/>
            <a:ext cx="0" cy="950976"/>
          </a:xfrm>
          <a:prstGeom prst="line">
            <a:avLst/>
          </a:prstGeom>
          <a:noFill/>
          <a:ln w="12700">
            <a:solidFill>
              <a:srgbClr val="9DB3C2"/>
            </a:solidFill>
            <a:prstDash val="solid"/>
            <a:headEnd type="none"/>
            <a:tailEnd type="triangle"/>
          </a:ln>
        </p:spPr>
        <p:txBody>
          <a:bodyPr/>
          <a:lstStyle/>
          <a:p>
            <a:endParaRPr lang="bg-BG"/>
          </a:p>
        </p:txBody>
      </p:sp>
      <p:sp>
        <p:nvSpPr>
          <p:cNvPr id="17" name="Shape 15"/>
          <p:cNvSpPr/>
          <p:nvPr/>
        </p:nvSpPr>
        <p:spPr>
          <a:xfrm>
            <a:off x="1673352" y="3072384"/>
            <a:ext cx="594360" cy="950976"/>
          </a:xfrm>
          <a:prstGeom prst="line">
            <a:avLst/>
          </a:prstGeom>
          <a:noFill/>
          <a:ln w="12700">
            <a:solidFill>
              <a:srgbClr val="DC2626"/>
            </a:solidFill>
            <a:prstDash val="solid"/>
            <a:headEnd type="none"/>
            <a:tailEnd type="triangle"/>
          </a:ln>
        </p:spPr>
        <p:txBody>
          <a:bodyPr/>
          <a:lstStyle/>
          <a:p>
            <a:endParaRPr lang="bg-BG"/>
          </a:p>
        </p:txBody>
      </p:sp>
      <p:sp>
        <p:nvSpPr>
          <p:cNvPr id="18" name="Shape 16"/>
          <p:cNvSpPr/>
          <p:nvPr/>
        </p:nvSpPr>
        <p:spPr>
          <a:xfrm>
            <a:off x="932688" y="4023360"/>
            <a:ext cx="310896" cy="310896"/>
          </a:xfrm>
          <a:prstGeom prst="ellipse">
            <a:avLst/>
          </a:prstGeom>
          <a:solidFill>
            <a:srgbClr val="94A3B8"/>
          </a:solidFill>
          <a:ln w="12700">
            <a:solidFill>
              <a:srgbClr val="94A3B8"/>
            </a:solidFill>
            <a:prstDash val="solid"/>
          </a:ln>
        </p:spPr>
        <p:txBody>
          <a:bodyPr/>
          <a:lstStyle/>
          <a:p>
            <a:endParaRPr lang="bg-BG"/>
          </a:p>
        </p:txBody>
      </p:sp>
      <p:sp>
        <p:nvSpPr>
          <p:cNvPr id="19" name="Shape 17"/>
          <p:cNvSpPr/>
          <p:nvPr/>
        </p:nvSpPr>
        <p:spPr>
          <a:xfrm>
            <a:off x="1508760" y="4023360"/>
            <a:ext cx="310896" cy="310896"/>
          </a:xfrm>
          <a:prstGeom prst="ellipse">
            <a:avLst/>
          </a:prstGeom>
          <a:solidFill>
            <a:srgbClr val="94A3B8"/>
          </a:solidFill>
          <a:ln w="12700">
            <a:solidFill>
              <a:srgbClr val="94A3B8"/>
            </a:solidFill>
            <a:prstDash val="solid"/>
          </a:ln>
        </p:spPr>
        <p:txBody>
          <a:bodyPr/>
          <a:lstStyle/>
          <a:p>
            <a:endParaRPr lang="bg-BG"/>
          </a:p>
        </p:txBody>
      </p:sp>
      <p:sp>
        <p:nvSpPr>
          <p:cNvPr id="20" name="Shape 18"/>
          <p:cNvSpPr/>
          <p:nvPr/>
        </p:nvSpPr>
        <p:spPr>
          <a:xfrm>
            <a:off x="2103120" y="4023360"/>
            <a:ext cx="310896" cy="310896"/>
          </a:xfrm>
          <a:prstGeom prst="ellipse">
            <a:avLst/>
          </a:prstGeom>
          <a:solidFill>
            <a:srgbClr val="DC2626"/>
          </a:solidFill>
          <a:ln w="12700">
            <a:solidFill>
              <a:srgbClr val="DC2626"/>
            </a:solidFill>
            <a:prstDash val="solid"/>
          </a:ln>
        </p:spPr>
        <p:txBody>
          <a:bodyPr/>
          <a:lstStyle/>
          <a:p>
            <a:endParaRPr lang="bg-BG"/>
          </a:p>
        </p:txBody>
      </p:sp>
      <p:sp>
        <p:nvSpPr>
          <p:cNvPr id="21" name="Text 19"/>
          <p:cNvSpPr/>
          <p:nvPr/>
        </p:nvSpPr>
        <p:spPr>
          <a:xfrm>
            <a:off x="1975104" y="4498848"/>
            <a:ext cx="868680" cy="228600"/>
          </a:xfrm>
          <a:prstGeom prst="rect">
            <a:avLst/>
          </a:prstGeom>
          <a:noFill/>
          <a:ln/>
        </p:spPr>
        <p:txBody>
          <a:bodyPr wrap="square" lIns="0" tIns="0" rIns="0" bIns="0" rtlCol="0" anchor="ctr"/>
          <a:lstStyle/>
          <a:p>
            <a:pPr marL="0" indent="0" algn="ctr">
              <a:buNone/>
            </a:pPr>
            <a:r>
              <a:rPr lang="en-US" sz="1050" b="1" dirty="0">
                <a:solidFill>
                  <a:srgbClr val="DC2626"/>
                </a:solidFill>
              </a:rPr>
              <a:t>PRUNED</a:t>
            </a:r>
            <a:endParaRPr lang="en-US" sz="1050" dirty="0"/>
          </a:p>
        </p:txBody>
      </p:sp>
      <p:sp>
        <p:nvSpPr>
          <p:cNvPr id="22" name="Shape 20"/>
          <p:cNvSpPr/>
          <p:nvPr/>
        </p:nvSpPr>
        <p:spPr>
          <a:xfrm>
            <a:off x="2057400" y="3886200"/>
            <a:ext cx="685800" cy="685800"/>
          </a:xfrm>
          <a:prstGeom prst="line">
            <a:avLst/>
          </a:prstGeom>
          <a:noFill/>
          <a:ln w="12700">
            <a:solidFill>
              <a:srgbClr val="DC2626"/>
            </a:solidFill>
            <a:prstDash val="solid"/>
          </a:ln>
        </p:spPr>
        <p:txBody>
          <a:bodyPr/>
          <a:lstStyle/>
          <a:p>
            <a:endParaRPr lang="bg-BG"/>
          </a:p>
        </p:txBody>
      </p:sp>
      <p:sp>
        <p:nvSpPr>
          <p:cNvPr id="23" name="Shape 21"/>
          <p:cNvSpPr/>
          <p:nvPr/>
        </p:nvSpPr>
        <p:spPr>
          <a:xfrm>
            <a:off x="2743200" y="3886200"/>
            <a:ext cx="0" cy="685800"/>
          </a:xfrm>
          <a:prstGeom prst="line">
            <a:avLst/>
          </a:prstGeom>
          <a:noFill/>
          <a:ln w="12700">
            <a:solidFill>
              <a:srgbClr val="DC2626"/>
            </a:solidFill>
            <a:prstDash val="solid"/>
          </a:ln>
        </p:spPr>
        <p:txBody>
          <a:bodyPr/>
          <a:lstStyle/>
          <a:p>
            <a:endParaRPr lang="bg-BG"/>
          </a:p>
        </p:txBody>
      </p:sp>
      <p:sp>
        <p:nvSpPr>
          <p:cNvPr id="24" name="Shape 22"/>
          <p:cNvSpPr/>
          <p:nvPr/>
        </p:nvSpPr>
        <p:spPr>
          <a:xfrm>
            <a:off x="3794760" y="1371600"/>
            <a:ext cx="3611880" cy="1234440"/>
          </a:xfrm>
          <a:prstGeom prst="roundRect">
            <a:avLst>
              <a:gd name="adj" fmla="val 5185"/>
            </a:avLst>
          </a:prstGeom>
          <a:solidFill>
            <a:srgbClr val="EFF6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5" name="Shape 23"/>
          <p:cNvSpPr/>
          <p:nvPr/>
        </p:nvSpPr>
        <p:spPr>
          <a:xfrm>
            <a:off x="3794760" y="1371600"/>
            <a:ext cx="73152" cy="1234440"/>
          </a:xfrm>
          <a:prstGeom prst="rect">
            <a:avLst/>
          </a:prstGeom>
          <a:solidFill>
            <a:srgbClr val="2563EB"/>
          </a:solidFill>
          <a:ln w="12700">
            <a:solidFill>
              <a:srgbClr val="2563EB"/>
            </a:solidFill>
            <a:prstDash val="solid"/>
          </a:ln>
        </p:spPr>
        <p:txBody>
          <a:bodyPr/>
          <a:lstStyle/>
          <a:p>
            <a:endParaRPr lang="bg-BG"/>
          </a:p>
        </p:txBody>
      </p:sp>
      <p:sp>
        <p:nvSpPr>
          <p:cNvPr id="26" name="Text 24"/>
          <p:cNvSpPr/>
          <p:nvPr/>
        </p:nvSpPr>
        <p:spPr>
          <a:xfrm>
            <a:off x="4005072" y="1536192"/>
            <a:ext cx="3291840" cy="320040"/>
          </a:xfrm>
          <a:prstGeom prst="rect">
            <a:avLst/>
          </a:prstGeom>
          <a:noFill/>
          <a:ln/>
        </p:spPr>
        <p:txBody>
          <a:bodyPr wrap="square" lIns="0" tIns="0" rIns="0" bIns="0" rtlCol="0" anchor="ctr"/>
          <a:lstStyle/>
          <a:p>
            <a:pPr marL="0" indent="0">
              <a:buNone/>
            </a:pPr>
            <a:r>
              <a:rPr lang="en-US" sz="1500" b="1" dirty="0">
                <a:solidFill>
                  <a:srgbClr val="102A43"/>
                </a:solidFill>
              </a:rPr>
              <a:t>Backtracking</a:t>
            </a:r>
            <a:endParaRPr lang="en-US" sz="1500" dirty="0"/>
          </a:p>
        </p:txBody>
      </p:sp>
      <p:sp>
        <p:nvSpPr>
          <p:cNvPr id="27" name="Text 25"/>
          <p:cNvSpPr/>
          <p:nvPr/>
        </p:nvSpPr>
        <p:spPr>
          <a:xfrm>
            <a:off x="4005072" y="1938528"/>
            <a:ext cx="3282696" cy="502920"/>
          </a:xfrm>
          <a:prstGeom prst="rect">
            <a:avLst/>
          </a:prstGeom>
          <a:noFill/>
          <a:ln/>
        </p:spPr>
        <p:txBody>
          <a:bodyPr wrap="square" lIns="254" tIns="254" rIns="254" bIns="254" rtlCol="0" anchor="t"/>
          <a:lstStyle/>
          <a:p>
            <a:pPr marL="0" indent="0">
              <a:buNone/>
            </a:pPr>
            <a:r>
              <a:rPr lang="en-US" sz="1220" dirty="0">
                <a:solidFill>
                  <a:srgbClr val="475569"/>
                </a:solidFill>
              </a:rPr>
              <a:t>Try a grade → recurse to the next course → undo the choice → try another grade.</a:t>
            </a:r>
            <a:endParaRPr lang="en-US" sz="1220" dirty="0"/>
          </a:p>
        </p:txBody>
      </p:sp>
      <p:sp>
        <p:nvSpPr>
          <p:cNvPr id="28" name="Shape 26"/>
          <p:cNvSpPr/>
          <p:nvPr/>
        </p:nvSpPr>
        <p:spPr>
          <a:xfrm>
            <a:off x="3794760" y="2788920"/>
            <a:ext cx="3611880" cy="1234440"/>
          </a:xfrm>
          <a:prstGeom prst="roundRect">
            <a:avLst>
              <a:gd name="adj" fmla="val 5185"/>
            </a:avLst>
          </a:prstGeom>
          <a:solidFill>
            <a:srgbClr val="FEF2F2"/>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9" name="Shape 27"/>
          <p:cNvSpPr/>
          <p:nvPr/>
        </p:nvSpPr>
        <p:spPr>
          <a:xfrm>
            <a:off x="3794760" y="2788920"/>
            <a:ext cx="73152" cy="1234440"/>
          </a:xfrm>
          <a:prstGeom prst="rect">
            <a:avLst/>
          </a:prstGeom>
          <a:solidFill>
            <a:srgbClr val="DC2626"/>
          </a:solidFill>
          <a:ln w="12700">
            <a:solidFill>
              <a:srgbClr val="DC2626"/>
            </a:solidFill>
            <a:prstDash val="solid"/>
          </a:ln>
        </p:spPr>
        <p:txBody>
          <a:bodyPr/>
          <a:lstStyle/>
          <a:p>
            <a:endParaRPr lang="bg-BG"/>
          </a:p>
        </p:txBody>
      </p:sp>
      <p:sp>
        <p:nvSpPr>
          <p:cNvPr id="30" name="Text 28"/>
          <p:cNvSpPr/>
          <p:nvPr/>
        </p:nvSpPr>
        <p:spPr>
          <a:xfrm>
            <a:off x="4005072" y="2953512"/>
            <a:ext cx="3291840" cy="320040"/>
          </a:xfrm>
          <a:prstGeom prst="rect">
            <a:avLst/>
          </a:prstGeom>
          <a:noFill/>
          <a:ln/>
        </p:spPr>
        <p:txBody>
          <a:bodyPr wrap="square" lIns="0" tIns="0" rIns="0" bIns="0" rtlCol="0" anchor="ctr"/>
          <a:lstStyle/>
          <a:p>
            <a:pPr marL="0" indent="0">
              <a:buNone/>
            </a:pPr>
            <a:r>
              <a:rPr lang="en-US" sz="1500" b="1" dirty="0">
                <a:solidFill>
                  <a:srgbClr val="102A43"/>
                </a:solidFill>
              </a:rPr>
              <a:t>Best-case pruning</a:t>
            </a:r>
            <a:endParaRPr lang="en-US" sz="1500" dirty="0"/>
          </a:p>
        </p:txBody>
      </p:sp>
      <p:sp>
        <p:nvSpPr>
          <p:cNvPr id="31" name="Text 29"/>
          <p:cNvSpPr/>
          <p:nvPr/>
        </p:nvSpPr>
        <p:spPr>
          <a:xfrm>
            <a:off x="4005072" y="3355848"/>
            <a:ext cx="3282696" cy="502920"/>
          </a:xfrm>
          <a:prstGeom prst="rect">
            <a:avLst/>
          </a:prstGeom>
          <a:noFill/>
          <a:ln/>
        </p:spPr>
        <p:txBody>
          <a:bodyPr wrap="square" lIns="254" tIns="254" rIns="254" bIns="254" rtlCol="0" anchor="t"/>
          <a:lstStyle/>
          <a:p>
            <a:pPr marL="0" indent="0">
              <a:buNone/>
            </a:pPr>
            <a:r>
              <a:rPr lang="en-US" sz="1220" dirty="0">
                <a:solidFill>
                  <a:srgbClr val="475569"/>
                </a:solidFill>
              </a:rPr>
              <a:t>If even all remaining grades = A cannot reach the target, stop the branch immediately.</a:t>
            </a:r>
            <a:endParaRPr lang="en-US" sz="1220" dirty="0"/>
          </a:p>
        </p:txBody>
      </p:sp>
      <p:sp>
        <p:nvSpPr>
          <p:cNvPr id="32" name="Shape 30"/>
          <p:cNvSpPr/>
          <p:nvPr/>
        </p:nvSpPr>
        <p:spPr>
          <a:xfrm>
            <a:off x="3794760" y="4206240"/>
            <a:ext cx="3611880" cy="1234440"/>
          </a:xfrm>
          <a:prstGeom prst="roundRect">
            <a:avLst>
              <a:gd name="adj" fmla="val 5185"/>
            </a:avLst>
          </a:prstGeom>
          <a:solidFill>
            <a:srgbClr val="F0FDF4"/>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33" name="Shape 31"/>
          <p:cNvSpPr/>
          <p:nvPr/>
        </p:nvSpPr>
        <p:spPr>
          <a:xfrm>
            <a:off x="3794760" y="4206240"/>
            <a:ext cx="73152" cy="1234440"/>
          </a:xfrm>
          <a:prstGeom prst="rect">
            <a:avLst/>
          </a:prstGeom>
          <a:solidFill>
            <a:srgbClr val="16A34A"/>
          </a:solidFill>
          <a:ln w="12700">
            <a:solidFill>
              <a:srgbClr val="16A34A"/>
            </a:solidFill>
            <a:prstDash val="solid"/>
          </a:ln>
        </p:spPr>
        <p:txBody>
          <a:bodyPr/>
          <a:lstStyle/>
          <a:p>
            <a:endParaRPr lang="bg-BG"/>
          </a:p>
        </p:txBody>
      </p:sp>
      <p:sp>
        <p:nvSpPr>
          <p:cNvPr id="34" name="Text 32"/>
          <p:cNvSpPr/>
          <p:nvPr/>
        </p:nvSpPr>
        <p:spPr>
          <a:xfrm>
            <a:off x="4005072" y="4370832"/>
            <a:ext cx="3291840" cy="320040"/>
          </a:xfrm>
          <a:prstGeom prst="rect">
            <a:avLst/>
          </a:prstGeom>
          <a:noFill/>
          <a:ln/>
        </p:spPr>
        <p:txBody>
          <a:bodyPr wrap="square" lIns="0" tIns="0" rIns="0" bIns="0" rtlCol="0" anchor="ctr"/>
          <a:lstStyle/>
          <a:p>
            <a:pPr marL="0" indent="0">
              <a:buNone/>
            </a:pPr>
            <a:r>
              <a:rPr lang="en-US" sz="1500" b="1" dirty="0">
                <a:solidFill>
                  <a:srgbClr val="102A43"/>
                </a:solidFill>
              </a:rPr>
              <a:t>Lowest-grade pruning</a:t>
            </a:r>
            <a:endParaRPr lang="en-US" sz="1500" dirty="0"/>
          </a:p>
        </p:txBody>
      </p:sp>
      <p:sp>
        <p:nvSpPr>
          <p:cNvPr id="35" name="Text 33"/>
          <p:cNvSpPr/>
          <p:nvPr/>
        </p:nvSpPr>
        <p:spPr>
          <a:xfrm>
            <a:off x="4005072" y="4773168"/>
            <a:ext cx="3282696" cy="502920"/>
          </a:xfrm>
          <a:prstGeom prst="rect">
            <a:avLst/>
          </a:prstGeom>
          <a:noFill/>
          <a:ln/>
        </p:spPr>
        <p:txBody>
          <a:bodyPr wrap="square" lIns="254" tIns="254" rIns="254" bIns="254" rtlCol="0" anchor="t"/>
          <a:lstStyle/>
          <a:p>
            <a:pPr marL="0" indent="0">
              <a:buNone/>
            </a:pPr>
            <a:r>
              <a:rPr lang="en-US" sz="1220" dirty="0">
                <a:solidFill>
                  <a:srgbClr val="475569"/>
                </a:solidFill>
              </a:rPr>
              <a:t>If all remaining grades = D already satisfy the target, higher-grade alternatives are unnecessary.</a:t>
            </a:r>
            <a:endParaRPr lang="en-US" sz="1220" dirty="0"/>
          </a:p>
        </p:txBody>
      </p:sp>
      <p:sp>
        <p:nvSpPr>
          <p:cNvPr id="36" name="Shape 34"/>
          <p:cNvSpPr/>
          <p:nvPr/>
        </p:nvSpPr>
        <p:spPr>
          <a:xfrm>
            <a:off x="7863840" y="1572768"/>
            <a:ext cx="3520440" cy="4297680"/>
          </a:xfrm>
          <a:prstGeom prst="roundRect">
            <a:avLst/>
          </a:prstGeom>
          <a:solidFill>
            <a:srgbClr val="FFFFFF"/>
          </a:solidFill>
          <a:ln w="12700">
            <a:solidFill>
              <a:srgbClr val="D8E1EA"/>
            </a:solidFill>
            <a:prstDash val="solid"/>
          </a:ln>
        </p:spPr>
        <p:txBody>
          <a:bodyPr/>
          <a:lstStyle/>
          <a:p>
            <a:endParaRPr lang="bg-BG"/>
          </a:p>
        </p:txBody>
      </p:sp>
      <p:sp>
        <p:nvSpPr>
          <p:cNvPr id="37" name="Text 35"/>
          <p:cNvSpPr/>
          <p:nvPr/>
        </p:nvSpPr>
        <p:spPr>
          <a:xfrm>
            <a:off x="8229600" y="1920240"/>
            <a:ext cx="2788920" cy="320040"/>
          </a:xfrm>
          <a:prstGeom prst="rect">
            <a:avLst/>
          </a:prstGeom>
          <a:noFill/>
          <a:ln/>
        </p:spPr>
        <p:txBody>
          <a:bodyPr wrap="square" lIns="0" tIns="0" rIns="0" bIns="0" rtlCol="0" anchor="ctr"/>
          <a:lstStyle/>
          <a:p>
            <a:pPr marL="0" indent="0" algn="ctr">
              <a:buNone/>
            </a:pPr>
            <a:r>
              <a:rPr lang="en-US" sz="1800" b="1" dirty="0">
                <a:solidFill>
                  <a:srgbClr val="102A43"/>
                </a:solidFill>
              </a:rPr>
              <a:t>Complexity</a:t>
            </a:r>
            <a:endParaRPr lang="en-US" sz="1800" dirty="0"/>
          </a:p>
        </p:txBody>
      </p:sp>
      <p:sp>
        <p:nvSpPr>
          <p:cNvPr id="38" name="Text 36"/>
          <p:cNvSpPr/>
          <p:nvPr/>
        </p:nvSpPr>
        <p:spPr>
          <a:xfrm>
            <a:off x="8229600" y="2560320"/>
            <a:ext cx="1234440" cy="274320"/>
          </a:xfrm>
          <a:prstGeom prst="rect">
            <a:avLst/>
          </a:prstGeom>
          <a:noFill/>
          <a:ln/>
        </p:spPr>
        <p:txBody>
          <a:bodyPr wrap="square" lIns="0" tIns="0" rIns="0" bIns="0" rtlCol="0" anchor="ctr"/>
          <a:lstStyle/>
          <a:p>
            <a:pPr marL="0" indent="0">
              <a:buNone/>
            </a:pPr>
            <a:r>
              <a:rPr lang="en-US" sz="1250" dirty="0">
                <a:solidFill>
                  <a:srgbClr val="64748B"/>
                </a:solidFill>
              </a:rPr>
              <a:t>Worst case</a:t>
            </a:r>
            <a:endParaRPr lang="en-US" sz="1250" dirty="0"/>
          </a:p>
        </p:txBody>
      </p:sp>
      <p:sp>
        <p:nvSpPr>
          <p:cNvPr id="39" name="Text 37"/>
          <p:cNvSpPr/>
          <p:nvPr/>
        </p:nvSpPr>
        <p:spPr>
          <a:xfrm>
            <a:off x="9464040" y="2441448"/>
            <a:ext cx="1280160" cy="502920"/>
          </a:xfrm>
          <a:prstGeom prst="rect">
            <a:avLst/>
          </a:prstGeom>
          <a:noFill/>
          <a:ln/>
        </p:spPr>
        <p:txBody>
          <a:bodyPr wrap="square" lIns="0" tIns="0" rIns="0" bIns="0" rtlCol="0" anchor="ctr"/>
          <a:lstStyle/>
          <a:p>
            <a:pPr marL="0" indent="0" algn="ctr">
              <a:buNone/>
            </a:pPr>
            <a:r>
              <a:rPr lang="en-US" sz="2600" b="1" dirty="0">
                <a:solidFill>
                  <a:srgbClr val="DC2626"/>
                </a:solidFill>
              </a:rPr>
              <a:t>O(gⁿ)</a:t>
            </a:r>
            <a:endParaRPr lang="en-US" sz="2600" dirty="0"/>
          </a:p>
        </p:txBody>
      </p:sp>
      <p:sp>
        <p:nvSpPr>
          <p:cNvPr id="40" name="Text 38"/>
          <p:cNvSpPr/>
          <p:nvPr/>
        </p:nvSpPr>
        <p:spPr>
          <a:xfrm>
            <a:off x="8229600" y="3182112"/>
            <a:ext cx="2743200" cy="685800"/>
          </a:xfrm>
          <a:prstGeom prst="rect">
            <a:avLst/>
          </a:prstGeom>
          <a:noFill/>
          <a:ln/>
        </p:spPr>
        <p:txBody>
          <a:bodyPr wrap="square" lIns="254" tIns="254" rIns="254" bIns="254" rtlCol="0" anchor="ctr"/>
          <a:lstStyle/>
          <a:p>
            <a:pPr marL="0" indent="0">
              <a:buNone/>
            </a:pPr>
            <a:r>
              <a:rPr lang="en-US" sz="1300" dirty="0">
                <a:solidFill>
                  <a:srgbClr val="475569"/>
                </a:solidFill>
              </a:rPr>
              <a:t>g = possible grades</a:t>
            </a:r>
            <a:endParaRPr lang="en-US" sz="1300" dirty="0"/>
          </a:p>
          <a:p>
            <a:pPr marL="0" indent="0">
              <a:buNone/>
            </a:pPr>
            <a:r>
              <a:rPr lang="en-US" sz="1300" dirty="0">
                <a:solidFill>
                  <a:srgbClr val="475569"/>
                </a:solidFill>
              </a:rPr>
              <a:t>n = remaining courses</a:t>
            </a:r>
            <a:endParaRPr lang="en-US" sz="1300" dirty="0"/>
          </a:p>
        </p:txBody>
      </p:sp>
      <p:sp>
        <p:nvSpPr>
          <p:cNvPr id="41" name="Text 39"/>
          <p:cNvSpPr/>
          <p:nvPr/>
        </p:nvSpPr>
        <p:spPr>
          <a:xfrm>
            <a:off x="8229600" y="4160520"/>
            <a:ext cx="2743200" cy="274320"/>
          </a:xfrm>
          <a:prstGeom prst="rect">
            <a:avLst/>
          </a:prstGeom>
          <a:noFill/>
          <a:ln/>
        </p:spPr>
        <p:txBody>
          <a:bodyPr wrap="square" lIns="0" tIns="0" rIns="0" bIns="0" rtlCol="0" anchor="ctr"/>
          <a:lstStyle/>
          <a:p>
            <a:pPr marL="0" indent="0">
              <a:buNone/>
            </a:pPr>
            <a:r>
              <a:rPr lang="en-US" sz="1250" b="1" dirty="0">
                <a:solidFill>
                  <a:srgbClr val="0F766E"/>
                </a:solidFill>
              </a:rPr>
              <a:t>Measured in the app</a:t>
            </a:r>
            <a:endParaRPr lang="en-US" sz="1250" dirty="0"/>
          </a:p>
        </p:txBody>
      </p:sp>
      <p:sp>
        <p:nvSpPr>
          <p:cNvPr id="42" name="Text 40"/>
          <p:cNvSpPr/>
          <p:nvPr/>
        </p:nvSpPr>
        <p:spPr>
          <a:xfrm>
            <a:off x="8229600" y="4553712"/>
            <a:ext cx="2743200" cy="731520"/>
          </a:xfrm>
          <a:prstGeom prst="rect">
            <a:avLst/>
          </a:prstGeom>
          <a:noFill/>
          <a:ln/>
        </p:spPr>
        <p:txBody>
          <a:bodyPr wrap="square" lIns="254" tIns="254" rIns="254" bIns="254" rtlCol="0" anchor="ctr"/>
          <a:lstStyle/>
          <a:p>
            <a:pPr marL="0" indent="0">
              <a:buNone/>
            </a:pPr>
            <a:r>
              <a:rPr lang="en-US" sz="1350" dirty="0">
                <a:solidFill>
                  <a:srgbClr val="475569"/>
                </a:solidFill>
              </a:rPr>
              <a:t>• Search nodes visited</a:t>
            </a:r>
            <a:endParaRPr lang="en-US" sz="1350" dirty="0"/>
          </a:p>
          <a:p>
            <a:pPr marL="0" indent="0">
              <a:buNone/>
            </a:pPr>
            <a:r>
              <a:rPr lang="en-US" sz="1350" dirty="0">
                <a:solidFill>
                  <a:srgbClr val="475569"/>
                </a:solidFill>
              </a:rPr>
              <a:t>• Branches pruned</a:t>
            </a:r>
            <a:endParaRPr lang="en-US" sz="1350" dirty="0"/>
          </a:p>
        </p:txBody>
      </p:sp>
      <p:sp>
        <p:nvSpPr>
          <p:cNvPr id="43"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8. Algorithm 2 — Dynamic Programming via Memoization</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The solver became much faster by reusing repeated subproblems</a:t>
            </a:r>
            <a:endParaRPr lang="en-US" sz="1250" dirty="0"/>
          </a:p>
        </p:txBody>
      </p:sp>
      <p:sp>
        <p:nvSpPr>
          <p:cNvPr id="4" name="Text 2"/>
          <p:cNvSpPr/>
          <p:nvPr/>
        </p:nvSpPr>
        <p:spPr>
          <a:xfrm>
            <a:off x="777240" y="1371600"/>
            <a:ext cx="4206240" cy="320040"/>
          </a:xfrm>
          <a:prstGeom prst="rect">
            <a:avLst/>
          </a:prstGeom>
          <a:noFill/>
          <a:ln/>
        </p:spPr>
        <p:txBody>
          <a:bodyPr wrap="square" lIns="0" tIns="0" rIns="0" bIns="0" rtlCol="0" anchor="ctr"/>
          <a:lstStyle/>
          <a:p>
            <a:pPr marL="0" indent="0">
              <a:buNone/>
            </a:pPr>
            <a:r>
              <a:rPr lang="en-US" sz="1600" b="1" dirty="0">
                <a:solidFill>
                  <a:srgbClr val="102A43"/>
                </a:solidFill>
              </a:rPr>
              <a:t>Different paths can reach the same state:</a:t>
            </a:r>
            <a:endParaRPr lang="en-US" sz="1600" dirty="0"/>
          </a:p>
        </p:txBody>
      </p:sp>
      <p:sp>
        <p:nvSpPr>
          <p:cNvPr id="5" name="Shape 3"/>
          <p:cNvSpPr/>
          <p:nvPr/>
        </p:nvSpPr>
        <p:spPr>
          <a:xfrm>
            <a:off x="868680" y="1965960"/>
            <a:ext cx="2286000" cy="960120"/>
          </a:xfrm>
          <a:prstGeom prst="roundRect">
            <a:avLst>
              <a:gd name="adj" fmla="val 6667"/>
            </a:avLst>
          </a:prstGeom>
          <a:solidFill>
            <a:srgbClr val="EFF6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6" name="Shape 4"/>
          <p:cNvSpPr/>
          <p:nvPr/>
        </p:nvSpPr>
        <p:spPr>
          <a:xfrm>
            <a:off x="868680" y="1965960"/>
            <a:ext cx="73152" cy="960120"/>
          </a:xfrm>
          <a:prstGeom prst="rect">
            <a:avLst/>
          </a:prstGeom>
          <a:solidFill>
            <a:srgbClr val="2563EB"/>
          </a:solidFill>
          <a:ln w="12700">
            <a:solidFill>
              <a:srgbClr val="2563EB"/>
            </a:solidFill>
            <a:prstDash val="solid"/>
          </a:ln>
        </p:spPr>
        <p:txBody>
          <a:bodyPr/>
          <a:lstStyle/>
          <a:p>
            <a:endParaRPr lang="bg-BG"/>
          </a:p>
        </p:txBody>
      </p:sp>
      <p:sp>
        <p:nvSpPr>
          <p:cNvPr id="7" name="Text 5"/>
          <p:cNvSpPr/>
          <p:nvPr/>
        </p:nvSpPr>
        <p:spPr>
          <a:xfrm>
            <a:off x="1078992" y="2130552"/>
            <a:ext cx="1965960" cy="320040"/>
          </a:xfrm>
          <a:prstGeom prst="rect">
            <a:avLst/>
          </a:prstGeom>
          <a:noFill/>
          <a:ln/>
        </p:spPr>
        <p:txBody>
          <a:bodyPr wrap="square" lIns="0" tIns="0" rIns="0" bIns="0" rtlCol="0" anchor="ctr"/>
          <a:lstStyle/>
          <a:p>
            <a:pPr marL="0" indent="0">
              <a:buNone/>
            </a:pPr>
            <a:r>
              <a:rPr lang="en-US" sz="1400" b="1" dirty="0">
                <a:solidFill>
                  <a:srgbClr val="102A43"/>
                </a:solidFill>
              </a:rPr>
              <a:t>Combination A</a:t>
            </a:r>
            <a:endParaRPr lang="en-US" sz="1400" dirty="0"/>
          </a:p>
        </p:txBody>
      </p:sp>
      <p:sp>
        <p:nvSpPr>
          <p:cNvPr id="8" name="Text 6"/>
          <p:cNvSpPr/>
          <p:nvPr/>
        </p:nvSpPr>
        <p:spPr>
          <a:xfrm>
            <a:off x="1078992" y="2532888"/>
            <a:ext cx="1956816" cy="228600"/>
          </a:xfrm>
          <a:prstGeom prst="rect">
            <a:avLst/>
          </a:prstGeom>
          <a:noFill/>
          <a:ln/>
        </p:spPr>
        <p:txBody>
          <a:bodyPr wrap="square" lIns="254" tIns="254" rIns="254" bIns="254" rtlCol="0" anchor="t"/>
          <a:lstStyle/>
          <a:p>
            <a:pPr marL="0" indent="0">
              <a:buNone/>
            </a:pPr>
            <a:r>
              <a:rPr lang="en-US" sz="1150" dirty="0">
                <a:solidFill>
                  <a:srgbClr val="475569"/>
                </a:solidFill>
              </a:rPr>
              <a:t>Earlier grade choices</a:t>
            </a:r>
            <a:endParaRPr lang="en-US" sz="1150" dirty="0"/>
          </a:p>
        </p:txBody>
      </p:sp>
      <p:sp>
        <p:nvSpPr>
          <p:cNvPr id="9" name="Shape 7"/>
          <p:cNvSpPr/>
          <p:nvPr/>
        </p:nvSpPr>
        <p:spPr>
          <a:xfrm>
            <a:off x="868680" y="3703320"/>
            <a:ext cx="2286000" cy="960120"/>
          </a:xfrm>
          <a:prstGeom prst="roundRect">
            <a:avLst>
              <a:gd name="adj" fmla="val 6667"/>
            </a:avLst>
          </a:prstGeom>
          <a:solidFill>
            <a:srgbClr val="FFF7ED"/>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10" name="Shape 8"/>
          <p:cNvSpPr/>
          <p:nvPr/>
        </p:nvSpPr>
        <p:spPr>
          <a:xfrm>
            <a:off x="868680" y="3703320"/>
            <a:ext cx="73152" cy="960120"/>
          </a:xfrm>
          <a:prstGeom prst="rect">
            <a:avLst/>
          </a:prstGeom>
          <a:solidFill>
            <a:srgbClr val="D97706"/>
          </a:solidFill>
          <a:ln w="12700">
            <a:solidFill>
              <a:srgbClr val="D97706"/>
            </a:solidFill>
            <a:prstDash val="solid"/>
          </a:ln>
        </p:spPr>
        <p:txBody>
          <a:bodyPr/>
          <a:lstStyle/>
          <a:p>
            <a:endParaRPr lang="bg-BG"/>
          </a:p>
        </p:txBody>
      </p:sp>
      <p:sp>
        <p:nvSpPr>
          <p:cNvPr id="11" name="Text 9"/>
          <p:cNvSpPr/>
          <p:nvPr/>
        </p:nvSpPr>
        <p:spPr>
          <a:xfrm>
            <a:off x="1078992" y="3867912"/>
            <a:ext cx="1965960" cy="320040"/>
          </a:xfrm>
          <a:prstGeom prst="rect">
            <a:avLst/>
          </a:prstGeom>
          <a:noFill/>
          <a:ln/>
        </p:spPr>
        <p:txBody>
          <a:bodyPr wrap="square" lIns="0" tIns="0" rIns="0" bIns="0" rtlCol="0" anchor="ctr"/>
          <a:lstStyle/>
          <a:p>
            <a:pPr marL="0" indent="0">
              <a:buNone/>
            </a:pPr>
            <a:r>
              <a:rPr lang="en-US" sz="1400" b="1" dirty="0">
                <a:solidFill>
                  <a:srgbClr val="102A43"/>
                </a:solidFill>
              </a:rPr>
              <a:t>Combination B</a:t>
            </a:r>
            <a:endParaRPr lang="en-US" sz="1400" dirty="0"/>
          </a:p>
        </p:txBody>
      </p:sp>
      <p:sp>
        <p:nvSpPr>
          <p:cNvPr id="12" name="Text 10"/>
          <p:cNvSpPr/>
          <p:nvPr/>
        </p:nvSpPr>
        <p:spPr>
          <a:xfrm>
            <a:off x="1078992" y="4270248"/>
            <a:ext cx="1956816" cy="228600"/>
          </a:xfrm>
          <a:prstGeom prst="rect">
            <a:avLst/>
          </a:prstGeom>
          <a:noFill/>
          <a:ln/>
        </p:spPr>
        <p:txBody>
          <a:bodyPr wrap="square" lIns="254" tIns="254" rIns="254" bIns="254" rtlCol="0" anchor="t"/>
          <a:lstStyle/>
          <a:p>
            <a:pPr marL="0" indent="0">
              <a:buNone/>
            </a:pPr>
            <a:r>
              <a:rPr lang="en-US" sz="1150" dirty="0">
                <a:solidFill>
                  <a:srgbClr val="475569"/>
                </a:solidFill>
              </a:rPr>
              <a:t>Different earlier choices</a:t>
            </a:r>
            <a:endParaRPr lang="en-US" sz="1150" dirty="0"/>
          </a:p>
        </p:txBody>
      </p:sp>
      <p:sp>
        <p:nvSpPr>
          <p:cNvPr id="13" name="Shape 11"/>
          <p:cNvSpPr/>
          <p:nvPr/>
        </p:nvSpPr>
        <p:spPr>
          <a:xfrm>
            <a:off x="3246120" y="2450592"/>
            <a:ext cx="1463040" cy="704088"/>
          </a:xfrm>
          <a:prstGeom prst="line">
            <a:avLst/>
          </a:prstGeom>
          <a:noFill/>
          <a:ln w="12700">
            <a:solidFill>
              <a:srgbClr val="2563EB"/>
            </a:solidFill>
            <a:prstDash val="solid"/>
            <a:headEnd type="none"/>
            <a:tailEnd type="triangle"/>
          </a:ln>
        </p:spPr>
        <p:txBody>
          <a:bodyPr/>
          <a:lstStyle/>
          <a:p>
            <a:endParaRPr lang="bg-BG"/>
          </a:p>
        </p:txBody>
      </p:sp>
      <p:sp>
        <p:nvSpPr>
          <p:cNvPr id="14" name="Shape 12"/>
          <p:cNvSpPr/>
          <p:nvPr/>
        </p:nvSpPr>
        <p:spPr>
          <a:xfrm>
            <a:off x="3246120" y="4187952"/>
            <a:ext cx="1463040" cy="0"/>
          </a:xfrm>
          <a:prstGeom prst="line">
            <a:avLst/>
          </a:prstGeom>
          <a:noFill/>
          <a:ln w="12700">
            <a:solidFill>
              <a:srgbClr val="D97706"/>
            </a:solidFill>
            <a:prstDash val="solid"/>
            <a:headEnd type="none"/>
            <a:tailEnd type="triangle"/>
          </a:ln>
        </p:spPr>
        <p:txBody>
          <a:bodyPr/>
          <a:lstStyle/>
          <a:p>
            <a:endParaRPr lang="bg-BG"/>
          </a:p>
        </p:txBody>
      </p:sp>
      <p:sp>
        <p:nvSpPr>
          <p:cNvPr id="15" name="Shape 13"/>
          <p:cNvSpPr/>
          <p:nvPr/>
        </p:nvSpPr>
        <p:spPr>
          <a:xfrm>
            <a:off x="4800600" y="2487168"/>
            <a:ext cx="2788920" cy="1691640"/>
          </a:xfrm>
          <a:prstGeom prst="roundRect">
            <a:avLst/>
          </a:prstGeom>
          <a:solidFill>
            <a:srgbClr val="F4F1FF"/>
          </a:solidFill>
          <a:ln w="12700">
            <a:solidFill>
              <a:srgbClr val="7C3AED"/>
            </a:solidFill>
            <a:prstDash val="solid"/>
          </a:ln>
        </p:spPr>
        <p:txBody>
          <a:bodyPr/>
          <a:lstStyle/>
          <a:p>
            <a:endParaRPr lang="bg-BG"/>
          </a:p>
        </p:txBody>
      </p:sp>
      <p:sp>
        <p:nvSpPr>
          <p:cNvPr id="16" name="Text 14"/>
          <p:cNvSpPr/>
          <p:nvPr/>
        </p:nvSpPr>
        <p:spPr>
          <a:xfrm>
            <a:off x="5074920" y="2788920"/>
            <a:ext cx="2240280" cy="320040"/>
          </a:xfrm>
          <a:prstGeom prst="rect">
            <a:avLst/>
          </a:prstGeom>
          <a:noFill/>
          <a:ln/>
        </p:spPr>
        <p:txBody>
          <a:bodyPr wrap="square" lIns="0" tIns="0" rIns="0" bIns="0" rtlCol="0" anchor="ctr"/>
          <a:lstStyle/>
          <a:p>
            <a:pPr marL="0" indent="0" algn="ctr">
              <a:buNone/>
            </a:pPr>
            <a:r>
              <a:rPr lang="en-US" sz="1700" b="1" dirty="0">
                <a:solidFill>
                  <a:srgbClr val="5B21B6"/>
                </a:solidFill>
              </a:rPr>
              <a:t>(courseIndex, pointsNeeded)</a:t>
            </a:r>
            <a:endParaRPr lang="en-US" sz="1700" dirty="0"/>
          </a:p>
        </p:txBody>
      </p:sp>
      <p:sp>
        <p:nvSpPr>
          <p:cNvPr id="17" name="Text 15"/>
          <p:cNvSpPr/>
          <p:nvPr/>
        </p:nvSpPr>
        <p:spPr>
          <a:xfrm>
            <a:off x="5166360" y="3337560"/>
            <a:ext cx="2057400" cy="320040"/>
          </a:xfrm>
          <a:prstGeom prst="rect">
            <a:avLst/>
          </a:prstGeom>
          <a:noFill/>
          <a:ln/>
        </p:spPr>
        <p:txBody>
          <a:bodyPr wrap="square" lIns="0" tIns="0" rIns="0" bIns="0" rtlCol="0" anchor="ctr"/>
          <a:lstStyle/>
          <a:p>
            <a:pPr marL="0" indent="0" algn="ctr">
              <a:buNone/>
            </a:pPr>
            <a:r>
              <a:rPr lang="en-US" sz="1280" dirty="0">
                <a:solidFill>
                  <a:srgbClr val="475569"/>
                </a:solidFill>
              </a:rPr>
              <a:t>Same remaining subproblem</a:t>
            </a:r>
            <a:endParaRPr lang="en-US" sz="1280" dirty="0"/>
          </a:p>
        </p:txBody>
      </p:sp>
      <p:sp>
        <p:nvSpPr>
          <p:cNvPr id="18" name="Shape 16"/>
          <p:cNvSpPr/>
          <p:nvPr/>
        </p:nvSpPr>
        <p:spPr>
          <a:xfrm>
            <a:off x="7726680" y="3337560"/>
            <a:ext cx="640080" cy="0"/>
          </a:xfrm>
          <a:prstGeom prst="line">
            <a:avLst/>
          </a:prstGeom>
          <a:noFill/>
          <a:ln w="12700">
            <a:solidFill>
              <a:srgbClr val="0F766E"/>
            </a:solidFill>
            <a:prstDash val="solid"/>
            <a:headEnd type="none"/>
            <a:tailEnd type="triangle"/>
          </a:ln>
        </p:spPr>
        <p:txBody>
          <a:bodyPr/>
          <a:lstStyle/>
          <a:p>
            <a:endParaRPr lang="bg-BG"/>
          </a:p>
        </p:txBody>
      </p:sp>
      <p:sp>
        <p:nvSpPr>
          <p:cNvPr id="19" name="Shape 17"/>
          <p:cNvSpPr/>
          <p:nvPr/>
        </p:nvSpPr>
        <p:spPr>
          <a:xfrm>
            <a:off x="8412480" y="2404872"/>
            <a:ext cx="2926080" cy="1874520"/>
          </a:xfrm>
          <a:prstGeom prst="roundRect">
            <a:avLst/>
          </a:prstGeom>
          <a:solidFill>
            <a:srgbClr val="F0FDF4"/>
          </a:solidFill>
          <a:ln w="12700">
            <a:solidFill>
              <a:srgbClr val="16A34A"/>
            </a:solidFill>
            <a:prstDash val="solid"/>
          </a:ln>
        </p:spPr>
        <p:txBody>
          <a:bodyPr/>
          <a:lstStyle/>
          <a:p>
            <a:endParaRPr lang="bg-BG"/>
          </a:p>
        </p:txBody>
      </p:sp>
      <p:sp>
        <p:nvSpPr>
          <p:cNvPr id="20" name="Text 18"/>
          <p:cNvSpPr/>
          <p:nvPr/>
        </p:nvSpPr>
        <p:spPr>
          <a:xfrm>
            <a:off x="8732520" y="2724912"/>
            <a:ext cx="2286000" cy="320040"/>
          </a:xfrm>
          <a:prstGeom prst="rect">
            <a:avLst/>
          </a:prstGeom>
          <a:noFill/>
          <a:ln/>
        </p:spPr>
        <p:txBody>
          <a:bodyPr wrap="square" lIns="0" tIns="0" rIns="0" bIns="0" rtlCol="0" anchor="ctr"/>
          <a:lstStyle/>
          <a:p>
            <a:pPr marL="0" indent="0" algn="ctr">
              <a:buNone/>
            </a:pPr>
            <a:r>
              <a:rPr lang="en-US" sz="1700" b="1" dirty="0">
                <a:solidFill>
                  <a:srgbClr val="16A34A"/>
                </a:solidFill>
              </a:rPr>
              <a:t>Dictionary cache</a:t>
            </a:r>
            <a:endParaRPr lang="en-US" sz="1700" dirty="0"/>
          </a:p>
        </p:txBody>
      </p:sp>
      <p:sp>
        <p:nvSpPr>
          <p:cNvPr id="21" name="Text 19"/>
          <p:cNvSpPr/>
          <p:nvPr/>
        </p:nvSpPr>
        <p:spPr>
          <a:xfrm>
            <a:off x="8915400" y="3246120"/>
            <a:ext cx="1920240" cy="685800"/>
          </a:xfrm>
          <a:prstGeom prst="rect">
            <a:avLst/>
          </a:prstGeom>
          <a:noFill/>
          <a:ln/>
        </p:spPr>
        <p:txBody>
          <a:bodyPr wrap="square" lIns="0" tIns="0" rIns="0" bIns="0" rtlCol="0" anchor="ctr"/>
          <a:lstStyle/>
          <a:p>
            <a:pPr marL="0" indent="0" algn="ctr">
              <a:buNone/>
            </a:pPr>
            <a:r>
              <a:rPr lang="en-US" sz="1600" b="1" dirty="0">
                <a:solidFill>
                  <a:srgbClr val="102A43"/>
                </a:solidFill>
              </a:rPr>
              <a:t>Solve once</a:t>
            </a:r>
            <a:endParaRPr lang="en-US" sz="1600" dirty="0"/>
          </a:p>
          <a:p>
            <a:pPr marL="0" indent="0" algn="ctr">
              <a:buNone/>
            </a:pPr>
            <a:r>
              <a:rPr lang="en-US" sz="1600" b="1" dirty="0">
                <a:solidFill>
                  <a:srgbClr val="102A43"/>
                </a:solidFill>
              </a:rPr>
              <a:t>Reuse later</a:t>
            </a:r>
            <a:endParaRPr lang="en-US" sz="1600" dirty="0"/>
          </a:p>
        </p:txBody>
      </p:sp>
      <p:sp>
        <p:nvSpPr>
          <p:cNvPr id="22" name="Shape 20"/>
          <p:cNvSpPr/>
          <p:nvPr/>
        </p:nvSpPr>
        <p:spPr>
          <a:xfrm>
            <a:off x="914400" y="5074920"/>
            <a:ext cx="3154680" cy="914400"/>
          </a:xfrm>
          <a:prstGeom prst="roundRect">
            <a:avLst>
              <a:gd name="adj" fmla="val 700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3" name="Shape 21"/>
          <p:cNvSpPr/>
          <p:nvPr/>
        </p:nvSpPr>
        <p:spPr>
          <a:xfrm>
            <a:off x="914400" y="5074920"/>
            <a:ext cx="73152" cy="914400"/>
          </a:xfrm>
          <a:prstGeom prst="rect">
            <a:avLst/>
          </a:prstGeom>
          <a:solidFill>
            <a:srgbClr val="0F766E"/>
          </a:solidFill>
          <a:ln w="12700">
            <a:solidFill>
              <a:srgbClr val="0F766E"/>
            </a:solidFill>
            <a:prstDash val="solid"/>
          </a:ln>
        </p:spPr>
        <p:txBody>
          <a:bodyPr/>
          <a:lstStyle/>
          <a:p>
            <a:endParaRPr lang="bg-BG"/>
          </a:p>
        </p:txBody>
      </p:sp>
      <p:sp>
        <p:nvSpPr>
          <p:cNvPr id="24" name="Text 22"/>
          <p:cNvSpPr/>
          <p:nvPr/>
        </p:nvSpPr>
        <p:spPr>
          <a:xfrm>
            <a:off x="1124712" y="5239512"/>
            <a:ext cx="2834640" cy="320040"/>
          </a:xfrm>
          <a:prstGeom prst="rect">
            <a:avLst/>
          </a:prstGeom>
          <a:noFill/>
          <a:ln/>
        </p:spPr>
        <p:txBody>
          <a:bodyPr wrap="square" lIns="0" tIns="0" rIns="0" bIns="0" rtlCol="0" anchor="ctr"/>
          <a:lstStyle/>
          <a:p>
            <a:pPr marL="0" indent="0">
              <a:buNone/>
            </a:pPr>
            <a:r>
              <a:rPr lang="en-US" sz="1370" b="1" dirty="0">
                <a:solidFill>
                  <a:srgbClr val="102A43"/>
                </a:solidFill>
              </a:rPr>
              <a:t>Integer-scaled states</a:t>
            </a:r>
            <a:endParaRPr lang="en-US" sz="1370" dirty="0"/>
          </a:p>
        </p:txBody>
      </p:sp>
      <p:sp>
        <p:nvSpPr>
          <p:cNvPr id="25" name="Text 23"/>
          <p:cNvSpPr/>
          <p:nvPr/>
        </p:nvSpPr>
        <p:spPr>
          <a:xfrm>
            <a:off x="1124712" y="5641848"/>
            <a:ext cx="2825496" cy="182880"/>
          </a:xfrm>
          <a:prstGeom prst="rect">
            <a:avLst/>
          </a:prstGeom>
          <a:noFill/>
          <a:ln/>
        </p:spPr>
        <p:txBody>
          <a:bodyPr wrap="square" lIns="254" tIns="254" rIns="254" bIns="254" rtlCol="0" anchor="t"/>
          <a:lstStyle/>
          <a:p>
            <a:pPr marL="0" indent="0">
              <a:buNone/>
            </a:pPr>
            <a:r>
              <a:rPr lang="en-US" sz="1130" dirty="0">
                <a:solidFill>
                  <a:srgbClr val="475569"/>
                </a:solidFill>
              </a:rPr>
              <a:t>3.7 → 37 and 3.3 → 33 avoids floating-point key inconsistencies.</a:t>
            </a:r>
            <a:endParaRPr lang="en-US" sz="1130" dirty="0"/>
          </a:p>
        </p:txBody>
      </p:sp>
      <p:sp>
        <p:nvSpPr>
          <p:cNvPr id="26" name="Shape 24"/>
          <p:cNvSpPr/>
          <p:nvPr/>
        </p:nvSpPr>
        <p:spPr>
          <a:xfrm>
            <a:off x="4526280" y="5074920"/>
            <a:ext cx="3154680" cy="914400"/>
          </a:xfrm>
          <a:prstGeom prst="roundRect">
            <a:avLst>
              <a:gd name="adj" fmla="val 700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27" name="Shape 25"/>
          <p:cNvSpPr/>
          <p:nvPr/>
        </p:nvSpPr>
        <p:spPr>
          <a:xfrm>
            <a:off x="4526280" y="5074920"/>
            <a:ext cx="73152" cy="914400"/>
          </a:xfrm>
          <a:prstGeom prst="rect">
            <a:avLst/>
          </a:prstGeom>
          <a:solidFill>
            <a:srgbClr val="7C3AED"/>
          </a:solidFill>
          <a:ln w="12700">
            <a:solidFill>
              <a:srgbClr val="7C3AED"/>
            </a:solidFill>
            <a:prstDash val="solid"/>
          </a:ln>
        </p:spPr>
        <p:txBody>
          <a:bodyPr/>
          <a:lstStyle/>
          <a:p>
            <a:endParaRPr lang="bg-BG"/>
          </a:p>
        </p:txBody>
      </p:sp>
      <p:sp>
        <p:nvSpPr>
          <p:cNvPr id="28" name="Text 26"/>
          <p:cNvSpPr/>
          <p:nvPr/>
        </p:nvSpPr>
        <p:spPr>
          <a:xfrm>
            <a:off x="4736592" y="5239512"/>
            <a:ext cx="2834640" cy="320040"/>
          </a:xfrm>
          <a:prstGeom prst="rect">
            <a:avLst/>
          </a:prstGeom>
          <a:noFill/>
          <a:ln/>
        </p:spPr>
        <p:txBody>
          <a:bodyPr wrap="square" lIns="0" tIns="0" rIns="0" bIns="0" rtlCol="0" anchor="ctr"/>
          <a:lstStyle/>
          <a:p>
            <a:pPr marL="0" indent="0">
              <a:buNone/>
            </a:pPr>
            <a:r>
              <a:rPr lang="en-US" sz="1370" b="1" dirty="0">
                <a:solidFill>
                  <a:srgbClr val="102A43"/>
                </a:solidFill>
              </a:rPr>
              <a:t>Pseudo-polynomial behavior</a:t>
            </a:r>
            <a:endParaRPr lang="en-US" sz="1370" dirty="0"/>
          </a:p>
        </p:txBody>
      </p:sp>
      <p:sp>
        <p:nvSpPr>
          <p:cNvPr id="29" name="Text 27"/>
          <p:cNvSpPr/>
          <p:nvPr/>
        </p:nvSpPr>
        <p:spPr>
          <a:xfrm>
            <a:off x="4736592" y="5641848"/>
            <a:ext cx="2825496" cy="182880"/>
          </a:xfrm>
          <a:prstGeom prst="rect">
            <a:avLst/>
          </a:prstGeom>
          <a:noFill/>
          <a:ln/>
        </p:spPr>
        <p:txBody>
          <a:bodyPr wrap="square" lIns="254" tIns="254" rIns="254" bIns="254" rtlCol="0" anchor="t"/>
          <a:lstStyle/>
          <a:p>
            <a:pPr marL="0" indent="0">
              <a:buNone/>
            </a:pPr>
            <a:r>
              <a:rPr lang="en-US" sz="1130" dirty="0">
                <a:solidFill>
                  <a:srgbClr val="475569"/>
                </a:solidFill>
              </a:rPr>
              <a:t>Approx. O(n × P × g) over distinct memoized states.</a:t>
            </a:r>
            <a:endParaRPr lang="en-US" sz="1130" dirty="0"/>
          </a:p>
        </p:txBody>
      </p:sp>
      <p:sp>
        <p:nvSpPr>
          <p:cNvPr id="30" name="Shape 28"/>
          <p:cNvSpPr/>
          <p:nvPr/>
        </p:nvSpPr>
        <p:spPr>
          <a:xfrm>
            <a:off x="8138160" y="5074920"/>
            <a:ext cx="3154680" cy="914400"/>
          </a:xfrm>
          <a:prstGeom prst="roundRect">
            <a:avLst>
              <a:gd name="adj" fmla="val 7000"/>
            </a:avLst>
          </a:prstGeom>
          <a:solidFill>
            <a:srgbClr val="FFFFFF"/>
          </a:solidFill>
          <a:ln w="12700">
            <a:solidFill>
              <a:srgbClr val="D8E1EA"/>
            </a:solidFill>
            <a:prstDash val="solid"/>
          </a:ln>
          <a:effectLst>
            <a:outerShdw blurRad="12700" dist="50800" dir="2700000" algn="bl" rotWithShape="0">
              <a:srgbClr val="B8C4D1">
                <a:alpha val="16000"/>
              </a:srgbClr>
            </a:outerShdw>
          </a:effectLst>
        </p:spPr>
        <p:txBody>
          <a:bodyPr/>
          <a:lstStyle/>
          <a:p>
            <a:endParaRPr lang="bg-BG"/>
          </a:p>
        </p:txBody>
      </p:sp>
      <p:sp>
        <p:nvSpPr>
          <p:cNvPr id="31" name="Shape 29"/>
          <p:cNvSpPr/>
          <p:nvPr/>
        </p:nvSpPr>
        <p:spPr>
          <a:xfrm>
            <a:off x="8138160" y="5074920"/>
            <a:ext cx="73152" cy="914400"/>
          </a:xfrm>
          <a:prstGeom prst="rect">
            <a:avLst/>
          </a:prstGeom>
          <a:solidFill>
            <a:srgbClr val="16A34A"/>
          </a:solidFill>
          <a:ln w="12700">
            <a:solidFill>
              <a:srgbClr val="16A34A"/>
            </a:solidFill>
            <a:prstDash val="solid"/>
          </a:ln>
        </p:spPr>
        <p:txBody>
          <a:bodyPr/>
          <a:lstStyle/>
          <a:p>
            <a:endParaRPr lang="bg-BG"/>
          </a:p>
        </p:txBody>
      </p:sp>
      <p:sp>
        <p:nvSpPr>
          <p:cNvPr id="32" name="Text 30"/>
          <p:cNvSpPr/>
          <p:nvPr/>
        </p:nvSpPr>
        <p:spPr>
          <a:xfrm>
            <a:off x="8348472" y="5239512"/>
            <a:ext cx="2834640" cy="320040"/>
          </a:xfrm>
          <a:prstGeom prst="rect">
            <a:avLst/>
          </a:prstGeom>
          <a:noFill/>
          <a:ln/>
        </p:spPr>
        <p:txBody>
          <a:bodyPr wrap="square" lIns="0" tIns="0" rIns="0" bIns="0" rtlCol="0" anchor="ctr"/>
          <a:lstStyle/>
          <a:p>
            <a:pPr marL="0" indent="0">
              <a:buNone/>
            </a:pPr>
            <a:r>
              <a:rPr lang="en-US" sz="1370" b="1" dirty="0">
                <a:solidFill>
                  <a:srgbClr val="102A43"/>
                </a:solidFill>
              </a:rPr>
              <a:t>Measured reuse</a:t>
            </a:r>
            <a:endParaRPr lang="en-US" sz="1370" dirty="0"/>
          </a:p>
        </p:txBody>
      </p:sp>
      <p:sp>
        <p:nvSpPr>
          <p:cNvPr id="33" name="Text 31"/>
          <p:cNvSpPr/>
          <p:nvPr/>
        </p:nvSpPr>
        <p:spPr>
          <a:xfrm>
            <a:off x="8348472" y="5641848"/>
            <a:ext cx="2825496" cy="182880"/>
          </a:xfrm>
          <a:prstGeom prst="rect">
            <a:avLst/>
          </a:prstGeom>
          <a:noFill/>
          <a:ln/>
        </p:spPr>
        <p:txBody>
          <a:bodyPr wrap="square" lIns="254" tIns="254" rIns="254" bIns="254" rtlCol="0" anchor="t"/>
          <a:lstStyle/>
          <a:p>
            <a:pPr marL="0" indent="0">
              <a:buNone/>
            </a:pPr>
            <a:r>
              <a:rPr lang="en-US" sz="1130" dirty="0">
                <a:solidFill>
                  <a:srgbClr val="475569"/>
                </a:solidFill>
              </a:rPr>
              <a:t>The UI reports memo hits: repeated states solved from cache.</a:t>
            </a:r>
            <a:endParaRPr lang="en-US" sz="1130" dirty="0"/>
          </a:p>
        </p:txBody>
      </p:sp>
      <p:sp>
        <p:nvSpPr>
          <p:cNvPr id="34"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47472"/>
            <a:ext cx="8138160" cy="47548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9. Current Status and Next Steps</a:t>
            </a:r>
            <a:endParaRPr lang="en-US" sz="2600" dirty="0"/>
          </a:p>
        </p:txBody>
      </p:sp>
      <p:sp>
        <p:nvSpPr>
          <p:cNvPr id="3" name="Text 1"/>
          <p:cNvSpPr/>
          <p:nvPr/>
        </p:nvSpPr>
        <p:spPr>
          <a:xfrm>
            <a:off x="612648" y="868680"/>
            <a:ext cx="8961120" cy="32004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The core application works; the remaining work focuses on the third algorithm, testing and polish</a:t>
            </a:r>
            <a:endParaRPr lang="en-US" sz="1250" dirty="0"/>
          </a:p>
        </p:txBody>
      </p:sp>
      <p:sp>
        <p:nvSpPr>
          <p:cNvPr id="4" name="Shape 2"/>
          <p:cNvSpPr/>
          <p:nvPr/>
        </p:nvSpPr>
        <p:spPr>
          <a:xfrm>
            <a:off x="1325880" y="2331720"/>
            <a:ext cx="8961120" cy="0"/>
          </a:xfrm>
          <a:prstGeom prst="line">
            <a:avLst/>
          </a:prstGeom>
          <a:noFill/>
          <a:ln w="12700">
            <a:solidFill>
              <a:srgbClr val="C8D4DD"/>
            </a:solidFill>
            <a:prstDash val="solid"/>
          </a:ln>
        </p:spPr>
        <p:txBody>
          <a:bodyPr/>
          <a:lstStyle/>
          <a:p>
            <a:endParaRPr lang="bg-BG"/>
          </a:p>
        </p:txBody>
      </p:sp>
      <p:sp>
        <p:nvSpPr>
          <p:cNvPr id="5" name="Shape 3"/>
          <p:cNvSpPr/>
          <p:nvPr/>
        </p:nvSpPr>
        <p:spPr>
          <a:xfrm>
            <a:off x="1280160" y="2084832"/>
            <a:ext cx="502920" cy="502920"/>
          </a:xfrm>
          <a:prstGeom prst="ellipse">
            <a:avLst/>
          </a:prstGeom>
          <a:solidFill>
            <a:srgbClr val="2563EB"/>
          </a:solidFill>
          <a:ln w="12700">
            <a:solidFill>
              <a:srgbClr val="2563EB"/>
            </a:solidFill>
            <a:prstDash val="solid"/>
          </a:ln>
        </p:spPr>
        <p:txBody>
          <a:bodyPr/>
          <a:lstStyle/>
          <a:p>
            <a:endParaRPr lang="bg-BG"/>
          </a:p>
        </p:txBody>
      </p:sp>
      <p:sp>
        <p:nvSpPr>
          <p:cNvPr id="6" name="Text 4"/>
          <p:cNvSpPr/>
          <p:nvPr/>
        </p:nvSpPr>
        <p:spPr>
          <a:xfrm>
            <a:off x="1362456" y="2103120"/>
            <a:ext cx="329184" cy="274320"/>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7" name="Text 5"/>
          <p:cNvSpPr/>
          <p:nvPr/>
        </p:nvSpPr>
        <p:spPr>
          <a:xfrm>
            <a:off x="777240" y="2788920"/>
            <a:ext cx="1508760" cy="274320"/>
          </a:xfrm>
          <a:prstGeom prst="rect">
            <a:avLst/>
          </a:prstGeom>
          <a:noFill/>
          <a:ln/>
        </p:spPr>
        <p:txBody>
          <a:bodyPr wrap="square" lIns="0" tIns="0" rIns="0" bIns="0" rtlCol="0" anchor="ctr"/>
          <a:lstStyle/>
          <a:p>
            <a:pPr marL="0" indent="0" algn="ctr">
              <a:buNone/>
            </a:pPr>
            <a:r>
              <a:rPr lang="en-US" sz="1330" b="1" dirty="0">
                <a:solidFill>
                  <a:srgbClr val="102A43"/>
                </a:solidFill>
              </a:rPr>
              <a:t>Core app</a:t>
            </a:r>
            <a:endParaRPr lang="en-US" sz="1330" dirty="0"/>
          </a:p>
        </p:txBody>
      </p:sp>
      <p:sp>
        <p:nvSpPr>
          <p:cNvPr id="8" name="Text 6"/>
          <p:cNvSpPr/>
          <p:nvPr/>
        </p:nvSpPr>
        <p:spPr>
          <a:xfrm>
            <a:off x="731520" y="3127248"/>
            <a:ext cx="1600200" cy="457200"/>
          </a:xfrm>
          <a:prstGeom prst="rect">
            <a:avLst/>
          </a:prstGeom>
          <a:noFill/>
          <a:ln/>
        </p:spPr>
        <p:txBody>
          <a:bodyPr wrap="square" lIns="0" tIns="0" rIns="0" bIns="0" rtlCol="0" anchor="ctr"/>
          <a:lstStyle/>
          <a:p>
            <a:pPr marL="0" indent="0" algn="ctr">
              <a:buNone/>
            </a:pPr>
            <a:r>
              <a:rPr lang="en-US" sz="1080" dirty="0">
                <a:solidFill>
                  <a:srgbClr val="64748B"/>
                </a:solidFill>
              </a:rPr>
              <a:t>CRUD + SQLite</a:t>
            </a:r>
            <a:endParaRPr lang="en-US" sz="1080" dirty="0"/>
          </a:p>
        </p:txBody>
      </p:sp>
      <p:sp>
        <p:nvSpPr>
          <p:cNvPr id="9" name="Shape 7"/>
          <p:cNvSpPr/>
          <p:nvPr/>
        </p:nvSpPr>
        <p:spPr>
          <a:xfrm>
            <a:off x="3383280" y="2084832"/>
            <a:ext cx="502920" cy="502920"/>
          </a:xfrm>
          <a:prstGeom prst="ellipse">
            <a:avLst/>
          </a:prstGeom>
          <a:solidFill>
            <a:srgbClr val="16A34A"/>
          </a:solidFill>
          <a:ln w="12700">
            <a:solidFill>
              <a:srgbClr val="16A34A"/>
            </a:solidFill>
            <a:prstDash val="solid"/>
          </a:ln>
        </p:spPr>
        <p:txBody>
          <a:bodyPr/>
          <a:lstStyle/>
          <a:p>
            <a:endParaRPr lang="bg-BG"/>
          </a:p>
        </p:txBody>
      </p:sp>
      <p:sp>
        <p:nvSpPr>
          <p:cNvPr id="10" name="Text 8"/>
          <p:cNvSpPr/>
          <p:nvPr/>
        </p:nvSpPr>
        <p:spPr>
          <a:xfrm>
            <a:off x="3465576" y="2103120"/>
            <a:ext cx="329184" cy="274320"/>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1" name="Text 9"/>
          <p:cNvSpPr/>
          <p:nvPr/>
        </p:nvSpPr>
        <p:spPr>
          <a:xfrm>
            <a:off x="2880360" y="2788920"/>
            <a:ext cx="1508760" cy="274320"/>
          </a:xfrm>
          <a:prstGeom prst="rect">
            <a:avLst/>
          </a:prstGeom>
          <a:noFill/>
          <a:ln/>
        </p:spPr>
        <p:txBody>
          <a:bodyPr wrap="square" lIns="0" tIns="0" rIns="0" bIns="0" rtlCol="0" anchor="ctr"/>
          <a:lstStyle/>
          <a:p>
            <a:pPr marL="0" indent="0" algn="ctr">
              <a:buNone/>
            </a:pPr>
            <a:r>
              <a:rPr lang="en-US" sz="1330" b="1" dirty="0">
                <a:solidFill>
                  <a:srgbClr val="102A43"/>
                </a:solidFill>
              </a:rPr>
              <a:t>Academic logic</a:t>
            </a:r>
            <a:endParaRPr lang="en-US" sz="1330" dirty="0"/>
          </a:p>
        </p:txBody>
      </p:sp>
      <p:sp>
        <p:nvSpPr>
          <p:cNvPr id="12" name="Text 10"/>
          <p:cNvSpPr/>
          <p:nvPr/>
        </p:nvSpPr>
        <p:spPr>
          <a:xfrm>
            <a:off x="2834640" y="3127248"/>
            <a:ext cx="1600200" cy="457200"/>
          </a:xfrm>
          <a:prstGeom prst="rect">
            <a:avLst/>
          </a:prstGeom>
          <a:noFill/>
          <a:ln/>
        </p:spPr>
        <p:txBody>
          <a:bodyPr wrap="square" lIns="0" tIns="0" rIns="0" bIns="0" rtlCol="0" anchor="ctr"/>
          <a:lstStyle/>
          <a:p>
            <a:pPr marL="0" indent="0" algn="ctr">
              <a:buNone/>
            </a:pPr>
            <a:r>
              <a:rPr lang="en-US" sz="1080" dirty="0">
                <a:solidFill>
                  <a:srgbClr val="64748B"/>
                </a:solidFill>
              </a:rPr>
              <a:t>GPA + credits</a:t>
            </a:r>
            <a:endParaRPr lang="en-US" sz="1080" dirty="0"/>
          </a:p>
        </p:txBody>
      </p:sp>
      <p:sp>
        <p:nvSpPr>
          <p:cNvPr id="13" name="Shape 11"/>
          <p:cNvSpPr/>
          <p:nvPr/>
        </p:nvSpPr>
        <p:spPr>
          <a:xfrm>
            <a:off x="5486400" y="2084832"/>
            <a:ext cx="502920" cy="502920"/>
          </a:xfrm>
          <a:prstGeom prst="ellipse">
            <a:avLst/>
          </a:prstGeom>
          <a:solidFill>
            <a:srgbClr val="D97706"/>
          </a:solidFill>
          <a:ln w="12700">
            <a:solidFill>
              <a:srgbClr val="D97706"/>
            </a:solidFill>
            <a:prstDash val="solid"/>
          </a:ln>
        </p:spPr>
        <p:txBody>
          <a:bodyPr/>
          <a:lstStyle/>
          <a:p>
            <a:endParaRPr lang="bg-BG"/>
          </a:p>
        </p:txBody>
      </p:sp>
      <p:sp>
        <p:nvSpPr>
          <p:cNvPr id="14" name="Text 12"/>
          <p:cNvSpPr/>
          <p:nvPr/>
        </p:nvSpPr>
        <p:spPr>
          <a:xfrm>
            <a:off x="5568696" y="2103120"/>
            <a:ext cx="329184" cy="274320"/>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5" name="Text 13"/>
          <p:cNvSpPr/>
          <p:nvPr/>
        </p:nvSpPr>
        <p:spPr>
          <a:xfrm>
            <a:off x="4983480" y="2788920"/>
            <a:ext cx="1508760" cy="274320"/>
          </a:xfrm>
          <a:prstGeom prst="rect">
            <a:avLst/>
          </a:prstGeom>
          <a:noFill/>
          <a:ln/>
        </p:spPr>
        <p:txBody>
          <a:bodyPr wrap="square" lIns="0" tIns="0" rIns="0" bIns="0" rtlCol="0" anchor="ctr"/>
          <a:lstStyle/>
          <a:p>
            <a:pPr marL="0" indent="0" algn="ctr">
              <a:buNone/>
            </a:pPr>
            <a:r>
              <a:rPr lang="en-US" sz="1330" b="1" dirty="0">
                <a:solidFill>
                  <a:srgbClr val="102A43"/>
                </a:solidFill>
              </a:rPr>
              <a:t>Planning</a:t>
            </a:r>
            <a:endParaRPr lang="en-US" sz="1330" dirty="0"/>
          </a:p>
        </p:txBody>
      </p:sp>
      <p:sp>
        <p:nvSpPr>
          <p:cNvPr id="16" name="Text 14"/>
          <p:cNvSpPr/>
          <p:nvPr/>
        </p:nvSpPr>
        <p:spPr>
          <a:xfrm>
            <a:off x="4937760" y="3127248"/>
            <a:ext cx="1600200" cy="457200"/>
          </a:xfrm>
          <a:prstGeom prst="rect">
            <a:avLst/>
          </a:prstGeom>
          <a:noFill/>
          <a:ln/>
        </p:spPr>
        <p:txBody>
          <a:bodyPr wrap="square" lIns="0" tIns="0" rIns="0" bIns="0" rtlCol="0" anchor="ctr"/>
          <a:lstStyle/>
          <a:p>
            <a:pPr marL="0" indent="0" algn="ctr">
              <a:buNone/>
            </a:pPr>
            <a:r>
              <a:rPr lang="en-US" sz="1080" dirty="0">
                <a:solidFill>
                  <a:srgbClr val="64748B"/>
                </a:solidFill>
              </a:rPr>
              <a:t>What-if + solver</a:t>
            </a:r>
            <a:endParaRPr lang="en-US" sz="1080" dirty="0"/>
          </a:p>
        </p:txBody>
      </p:sp>
      <p:sp>
        <p:nvSpPr>
          <p:cNvPr id="17" name="Shape 15"/>
          <p:cNvSpPr/>
          <p:nvPr/>
        </p:nvSpPr>
        <p:spPr>
          <a:xfrm>
            <a:off x="7589520" y="2084832"/>
            <a:ext cx="502920" cy="502920"/>
          </a:xfrm>
          <a:prstGeom prst="ellipse">
            <a:avLst/>
          </a:prstGeom>
          <a:solidFill>
            <a:srgbClr val="7C3AED"/>
          </a:solidFill>
          <a:ln w="12700">
            <a:solidFill>
              <a:srgbClr val="7C3AED"/>
            </a:solidFill>
            <a:prstDash val="solid"/>
          </a:ln>
        </p:spPr>
        <p:txBody>
          <a:bodyPr/>
          <a:lstStyle/>
          <a:p>
            <a:endParaRPr lang="bg-BG"/>
          </a:p>
        </p:txBody>
      </p:sp>
      <p:sp>
        <p:nvSpPr>
          <p:cNvPr id="18" name="Text 16"/>
          <p:cNvSpPr/>
          <p:nvPr/>
        </p:nvSpPr>
        <p:spPr>
          <a:xfrm>
            <a:off x="7671816" y="2103120"/>
            <a:ext cx="329184" cy="274320"/>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9" name="Text 17"/>
          <p:cNvSpPr/>
          <p:nvPr/>
        </p:nvSpPr>
        <p:spPr>
          <a:xfrm>
            <a:off x="7086600" y="2788920"/>
            <a:ext cx="1508760" cy="274320"/>
          </a:xfrm>
          <a:prstGeom prst="rect">
            <a:avLst/>
          </a:prstGeom>
          <a:noFill/>
          <a:ln/>
        </p:spPr>
        <p:txBody>
          <a:bodyPr wrap="square" lIns="0" tIns="0" rIns="0" bIns="0" rtlCol="0" anchor="ctr"/>
          <a:lstStyle/>
          <a:p>
            <a:pPr marL="0" indent="0" algn="ctr">
              <a:buNone/>
            </a:pPr>
            <a:r>
              <a:rPr lang="en-US" sz="1330" b="1" dirty="0">
                <a:solidFill>
                  <a:srgbClr val="102A43"/>
                </a:solidFill>
              </a:rPr>
              <a:t>Algorithms</a:t>
            </a:r>
            <a:endParaRPr lang="en-US" sz="1330" dirty="0"/>
          </a:p>
        </p:txBody>
      </p:sp>
      <p:sp>
        <p:nvSpPr>
          <p:cNvPr id="20" name="Text 18"/>
          <p:cNvSpPr/>
          <p:nvPr/>
        </p:nvSpPr>
        <p:spPr>
          <a:xfrm>
            <a:off x="7040880" y="3127248"/>
            <a:ext cx="1600200" cy="457200"/>
          </a:xfrm>
          <a:prstGeom prst="rect">
            <a:avLst/>
          </a:prstGeom>
          <a:noFill/>
          <a:ln/>
        </p:spPr>
        <p:txBody>
          <a:bodyPr wrap="square" lIns="0" tIns="0" rIns="0" bIns="0" rtlCol="0" anchor="ctr"/>
          <a:lstStyle/>
          <a:p>
            <a:pPr marL="0" indent="0" algn="ctr">
              <a:buNone/>
            </a:pPr>
            <a:r>
              <a:rPr lang="en-US" sz="1080" dirty="0">
                <a:solidFill>
                  <a:srgbClr val="64748B"/>
                </a:solidFill>
              </a:rPr>
              <a:t>Backtracking + DP</a:t>
            </a:r>
            <a:endParaRPr lang="en-US" sz="1080" dirty="0"/>
          </a:p>
        </p:txBody>
      </p:sp>
      <p:sp>
        <p:nvSpPr>
          <p:cNvPr id="21" name="Shape 19"/>
          <p:cNvSpPr/>
          <p:nvPr/>
        </p:nvSpPr>
        <p:spPr>
          <a:xfrm>
            <a:off x="9692640" y="2084832"/>
            <a:ext cx="502920" cy="502920"/>
          </a:xfrm>
          <a:prstGeom prst="ellipse">
            <a:avLst/>
          </a:prstGeom>
          <a:solidFill>
            <a:srgbClr val="FFFFFF"/>
          </a:solidFill>
          <a:ln w="12700">
            <a:solidFill>
              <a:srgbClr val="0F766E"/>
            </a:solidFill>
            <a:prstDash val="solid"/>
          </a:ln>
        </p:spPr>
        <p:txBody>
          <a:bodyPr/>
          <a:lstStyle/>
          <a:p>
            <a:endParaRPr lang="bg-BG"/>
          </a:p>
        </p:txBody>
      </p:sp>
      <p:sp>
        <p:nvSpPr>
          <p:cNvPr id="22" name="Text 20"/>
          <p:cNvSpPr/>
          <p:nvPr/>
        </p:nvSpPr>
        <p:spPr>
          <a:xfrm>
            <a:off x="9189720" y="2788920"/>
            <a:ext cx="1508760" cy="274320"/>
          </a:xfrm>
          <a:prstGeom prst="rect">
            <a:avLst/>
          </a:prstGeom>
          <a:noFill/>
          <a:ln/>
        </p:spPr>
        <p:txBody>
          <a:bodyPr wrap="square" lIns="0" tIns="0" rIns="0" bIns="0" rtlCol="0" anchor="ctr"/>
          <a:lstStyle/>
          <a:p>
            <a:pPr marL="0" indent="0" algn="ctr">
              <a:buNone/>
            </a:pPr>
            <a:r>
              <a:rPr lang="en-US" sz="1330" b="1" dirty="0">
                <a:solidFill>
                  <a:srgbClr val="102A43"/>
                </a:solidFill>
              </a:rPr>
              <a:t>Next</a:t>
            </a:r>
            <a:endParaRPr lang="en-US" sz="1330" dirty="0"/>
          </a:p>
        </p:txBody>
      </p:sp>
      <p:sp>
        <p:nvSpPr>
          <p:cNvPr id="23" name="Text 21"/>
          <p:cNvSpPr/>
          <p:nvPr/>
        </p:nvSpPr>
        <p:spPr>
          <a:xfrm>
            <a:off x="9144000" y="3127248"/>
            <a:ext cx="1600200" cy="457200"/>
          </a:xfrm>
          <a:prstGeom prst="rect">
            <a:avLst/>
          </a:prstGeom>
          <a:noFill/>
          <a:ln/>
        </p:spPr>
        <p:txBody>
          <a:bodyPr wrap="square" lIns="0" tIns="0" rIns="0" bIns="0" rtlCol="0" anchor="ctr"/>
          <a:lstStyle/>
          <a:p>
            <a:pPr marL="0" indent="0" algn="ctr">
              <a:buNone/>
            </a:pPr>
            <a:r>
              <a:rPr lang="en-US" sz="1080" dirty="0">
                <a:solidFill>
                  <a:srgbClr val="64748B"/>
                </a:solidFill>
              </a:rPr>
              <a:t>Graph planner + tests</a:t>
            </a:r>
            <a:endParaRPr lang="en-US" sz="1080" dirty="0"/>
          </a:p>
        </p:txBody>
      </p:sp>
      <p:sp>
        <p:nvSpPr>
          <p:cNvPr id="24" name="Shape 22"/>
          <p:cNvSpPr/>
          <p:nvPr/>
        </p:nvSpPr>
        <p:spPr>
          <a:xfrm>
            <a:off x="868680" y="4069080"/>
            <a:ext cx="5074920" cy="1417320"/>
          </a:xfrm>
          <a:prstGeom prst="roundRect">
            <a:avLst/>
          </a:prstGeom>
          <a:solidFill>
            <a:srgbClr val="F0FDF4"/>
          </a:solidFill>
          <a:ln w="12700">
            <a:solidFill>
              <a:srgbClr val="16A34A"/>
            </a:solidFill>
            <a:prstDash val="solid"/>
          </a:ln>
        </p:spPr>
        <p:txBody>
          <a:bodyPr/>
          <a:lstStyle/>
          <a:p>
            <a:endParaRPr lang="bg-BG"/>
          </a:p>
        </p:txBody>
      </p:sp>
      <p:sp>
        <p:nvSpPr>
          <p:cNvPr id="25" name="Text 23"/>
          <p:cNvSpPr/>
          <p:nvPr/>
        </p:nvSpPr>
        <p:spPr>
          <a:xfrm>
            <a:off x="1188720" y="4370832"/>
            <a:ext cx="2468880" cy="320040"/>
          </a:xfrm>
          <a:prstGeom prst="rect">
            <a:avLst/>
          </a:prstGeom>
          <a:noFill/>
          <a:ln/>
        </p:spPr>
        <p:txBody>
          <a:bodyPr wrap="square" lIns="0" tIns="0" rIns="0" bIns="0" rtlCol="0" anchor="ctr"/>
          <a:lstStyle/>
          <a:p>
            <a:pPr marL="0" indent="0">
              <a:buNone/>
            </a:pPr>
            <a:r>
              <a:rPr lang="en-US" sz="1600" b="1" dirty="0">
                <a:solidFill>
                  <a:srgbClr val="16A34A"/>
                </a:solidFill>
              </a:rPr>
              <a:t>What is already strong</a:t>
            </a:r>
            <a:endParaRPr lang="en-US" sz="1600" dirty="0"/>
          </a:p>
        </p:txBody>
      </p:sp>
      <p:sp>
        <p:nvSpPr>
          <p:cNvPr id="26" name="Text 24"/>
          <p:cNvSpPr/>
          <p:nvPr/>
        </p:nvSpPr>
        <p:spPr>
          <a:xfrm>
            <a:off x="1188720" y="4800600"/>
            <a:ext cx="4389120" cy="457200"/>
          </a:xfrm>
          <a:prstGeom prst="rect">
            <a:avLst/>
          </a:prstGeom>
          <a:noFill/>
          <a:ln/>
        </p:spPr>
        <p:txBody>
          <a:bodyPr wrap="square" lIns="0" tIns="0" rIns="0" bIns="0" rtlCol="0" anchor="ctr"/>
          <a:lstStyle/>
          <a:p>
            <a:pPr marL="0" indent="0">
              <a:buNone/>
            </a:pPr>
            <a:r>
              <a:rPr lang="en-US" sz="1320" dirty="0">
                <a:solidFill>
                  <a:srgbClr val="475569"/>
                </a:solidFill>
              </a:rPr>
              <a:t>Persistent application + complete course workflow + two non-trivial algorithmic approaches.</a:t>
            </a:r>
            <a:endParaRPr lang="en-US" sz="1320" dirty="0"/>
          </a:p>
        </p:txBody>
      </p:sp>
      <p:sp>
        <p:nvSpPr>
          <p:cNvPr id="27" name="Shape 25"/>
          <p:cNvSpPr/>
          <p:nvPr/>
        </p:nvSpPr>
        <p:spPr>
          <a:xfrm>
            <a:off x="6263640" y="4069080"/>
            <a:ext cx="5074920" cy="1417320"/>
          </a:xfrm>
          <a:prstGeom prst="roundRect">
            <a:avLst/>
          </a:prstGeom>
          <a:solidFill>
            <a:srgbClr val="EFF6FF"/>
          </a:solidFill>
          <a:ln w="12700">
            <a:solidFill>
              <a:srgbClr val="0F766E"/>
            </a:solidFill>
            <a:prstDash val="solid"/>
          </a:ln>
        </p:spPr>
        <p:txBody>
          <a:bodyPr/>
          <a:lstStyle/>
          <a:p>
            <a:endParaRPr lang="bg-BG"/>
          </a:p>
        </p:txBody>
      </p:sp>
      <p:sp>
        <p:nvSpPr>
          <p:cNvPr id="28" name="Text 26"/>
          <p:cNvSpPr/>
          <p:nvPr/>
        </p:nvSpPr>
        <p:spPr>
          <a:xfrm>
            <a:off x="6583680" y="4370832"/>
            <a:ext cx="2011680" cy="320040"/>
          </a:xfrm>
          <a:prstGeom prst="rect">
            <a:avLst/>
          </a:prstGeom>
          <a:noFill/>
          <a:ln/>
        </p:spPr>
        <p:txBody>
          <a:bodyPr wrap="square" lIns="0" tIns="0" rIns="0" bIns="0" rtlCol="0" anchor="ctr"/>
          <a:lstStyle/>
          <a:p>
            <a:pPr marL="0" indent="0">
              <a:buNone/>
            </a:pPr>
            <a:r>
              <a:rPr lang="en-US" sz="1600" b="1" dirty="0">
                <a:solidFill>
                  <a:srgbClr val="0F766E"/>
                </a:solidFill>
              </a:rPr>
              <a:t>Next milestone</a:t>
            </a:r>
            <a:endParaRPr lang="en-US" sz="1600" dirty="0"/>
          </a:p>
        </p:txBody>
      </p:sp>
      <p:sp>
        <p:nvSpPr>
          <p:cNvPr id="29" name="Text 27"/>
          <p:cNvSpPr/>
          <p:nvPr/>
        </p:nvSpPr>
        <p:spPr>
          <a:xfrm>
            <a:off x="6583680" y="4800600"/>
            <a:ext cx="4343400" cy="502920"/>
          </a:xfrm>
          <a:prstGeom prst="rect">
            <a:avLst/>
          </a:prstGeom>
          <a:noFill/>
          <a:ln/>
        </p:spPr>
        <p:txBody>
          <a:bodyPr wrap="square" lIns="0" tIns="0" rIns="0" bIns="0" rtlCol="0" anchor="ctr"/>
          <a:lstStyle/>
          <a:p>
            <a:pPr marL="0" indent="0">
              <a:buNone/>
            </a:pPr>
            <a:r>
              <a:rPr lang="en-US" sz="1320" dirty="0">
                <a:solidFill>
                  <a:srgbClr val="475569"/>
                </a:solidFill>
              </a:rPr>
              <a:t>Stage 9: Degree Progress + prerequisite graph + topological sort, followed by unit tests and final polish.</a:t>
            </a:r>
            <a:endParaRPr lang="en-US" sz="1320" dirty="0"/>
          </a:p>
        </p:txBody>
      </p:sp>
      <p:sp>
        <p:nvSpPr>
          <p:cNvPr id="30" name="Text 28"/>
          <p:cNvSpPr/>
          <p:nvPr/>
        </p:nvSpPr>
        <p:spPr>
          <a:xfrm>
            <a:off x="1005840" y="5870448"/>
            <a:ext cx="10149840" cy="384048"/>
          </a:xfrm>
          <a:prstGeom prst="rect">
            <a:avLst/>
          </a:prstGeom>
          <a:noFill/>
          <a:ln/>
        </p:spPr>
        <p:txBody>
          <a:bodyPr wrap="square" lIns="0" tIns="0" rIns="0" bIns="0" rtlCol="0" anchor="ctr"/>
          <a:lstStyle/>
          <a:p>
            <a:pPr marL="0" indent="0" algn="ctr">
              <a:buNone/>
            </a:pPr>
            <a:r>
              <a:rPr lang="en-US" sz="1350" b="1" dirty="0">
                <a:solidFill>
                  <a:srgbClr val="102A43"/>
                </a:solidFill>
              </a:rPr>
              <a:t>Takeaway: the project has evolved from a calculator into a structured academic planning system with measurable algorithmic behavior.</a:t>
            </a:r>
            <a:endParaRPr lang="en-US" sz="1350" dirty="0"/>
          </a:p>
        </p:txBody>
      </p:sp>
      <p:sp>
        <p:nvSpPr>
          <p:cNvPr id="31" name="Slide Number Placeholder 0"/>
          <p:cNvSpPr>
            <a:spLocks noGrp="1"/>
          </p:cNvSpPr>
          <p:nvPr>
            <p:ph type="sldNum" sz="quarter" idx="4294967295"/>
          </p:nvPr>
        </p:nvSpPr>
        <p:spPr>
          <a:xfrm>
            <a:off x="11750040" y="6473952"/>
            <a:ext cx="2286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1439</Words>
  <Application>Microsoft Office PowerPoint</Application>
  <PresentationFormat>Widescreen</PresentationFormat>
  <Paragraphs>182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AUBG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AUBG Academic Progress Tracker</dc:title>
  <dc:subject>AUBG Academic Progress Tracker - Senior Project Progress Presentation</dc:subject>
  <dc:creator>OpenAI</dc:creator>
  <cp:lastModifiedBy>0</cp:lastModifiedBy>
  <cp:revision>2</cp:revision>
  <dcterms:created xsi:type="dcterms:W3CDTF">2026-10-22T14:48:36Z</dcterms:created>
  <dcterms:modified xsi:type="dcterms:W3CDTF">2026-10-22T15:24:48Z</dcterms:modified>
</cp:coreProperties>
</file>